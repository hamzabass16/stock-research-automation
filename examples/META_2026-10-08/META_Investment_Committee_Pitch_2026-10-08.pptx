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I'm Hamza Bassatne, and today I'm reviewing Meta Platforms, which closed at $721.31 on 7 October 2026, a $1.84 trillion market cap. The research question was whether Meta's AI capex will return a higher-than-expected ROI that transforms the ad platform and lifts revenue and margins long-term. My answer has three parts: yes on revenue, unproven on margins and ROI, and the market already pays for more than consensus expects. My recommendation is Hold. Keep the Transitional position, continue measured DCA, and concentrate any add at or below about $600 or on a Section 0 panic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is the best performance-advertising machine in the world. It reaches 3.60 billion daily active people, and eMarketer expects it to take 26.8% of a roughly $908 billion global digital ad market in 2026, overtaking Google for the first time. The paying customer is the advertiser, about 98% of revenue. Over 9 million SMBs use its AI creative tools, and Advantage+ campaigns run at a $75 billion annual run-rate, up from $60 billion three quarters earlier. Under v3 it is a Transitional Holding. TTM revenue growth of 27.7% is the disruption engine, and it passes 4 of 7 Compounding Machine thresholds, exactly 57%, with zero buffer. Here is the asymmetry. Bulls see the revenue ROI and bears see the FCF collapse, but few look at incremental ROIC: about 11% on capital added since FY2024. Why now? Not to add, because the stock rose about 27% in September on Muse sentiment. The checkpoint is the Q3 print on 28 October; margins are a 2028-plus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moat is network effect plus pricing power, and the data agrees. Price per ad rose 12% against 3.4% US CPI, about three and a half times inflation, while impressions grew 14% and gross margin held near 82% for five quarters. The driver is AI ranking. In Q2, Facebook clicks rose 8.3% and conversions 15.7%, and ARPP reached $16.86, up 24%. Revenue beat in all of the last 8 quarters, landing at or above the top of guidance in 6, and growth accelerated from 16% to 33% before 28% in Q2. That is nearly twice Google Services' 15%, with an 81.7% gross margin against Google's 60.9% and Amazon's 50.8%. But quality is eroding beneath the gross line. ROCE has gone from 28.6% to 25.7% to 22.1%, asset turnover from 0.63x to 0.56x, and FoA operating margin from 53.0% to 38.8%. FCF conversion is 55.6%. The moat is becoming capital-heavy.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whether the thesis mechanism has ever moved this stock. I used 45 earnings events from 2015 to 2026 and a market model with SPY and an orthogonalised sector factor, which together explain about 63% of META's daily variance. I then regressed the two-day abnormal return on the change in capex intensity. The coefficient was minus 0.082% per point, with a z of minus 0.51, a p-value of 0.608 and an R-squared of 0.073. Step-up quarters averaged plus 0.64% versus plus 0.54% for other quarters, p of 0.969. There is no post-earnings drift either, p of 0.478, so the market has not historically underestimated capex payoffs. Lagged capex intensity does not predict revenue growth, p of 0.289 with the wrong sign, or margins, p of 0.942. The seven AI-era reactions average minus 0.7%. Power is limited: we could only detect about 4.5% CAR per 10-point shock. Conclusion: the thesis is not a source of edge and cannot justify more conviction or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 reinvests its free cash flow, so an FCF yield of 2.06% understates its earning power. I therefore use forward P/E, cross-checked with P/OCF. At 23.2 times FY26 earnings, Meta trades at about 1.2 times the 19.1 times Communication Services multiple. That is below its 5-year mean of about 25.3 times but well above the roughly 17 times it hit in August. P/OCF of 14.1 times is reasonable, but consensus FCF is minus $6.5 billion this year and minus $25.3 billion in 2027. My consensus-anchored DCF, at a 10.3% WACC and 3% terminal growth, gives $566, 21% below the price. The conservative case, with 32% flat margins and an 11.3% WACC, gives $267. The optimistic case, with margins back to 40% and capex falling to 20% of revenue, gives $1,026. A reverse DCF says $721 implies a 9.1% discount rate. The multiple moved from 17 to 23 times on the Muse launch and Wells Fargo's $796 target, not on reported Muse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kill signal is specific. If ROIC on gross invested capital falls below 20% while FCF per share is still declining at the next Classification Test, Meta drops to 3 of 7, or 43%. It then reverts to Disruptive Growth at a 5% cap, and we trim within 30 days. On the downside, the $18 billion attorneys-general settlement brings about a $10 billion Q3 accrual. New Mexico seeks $35 to 40 billion, and the FTC appeal and the February 2027 school-district trials are pending. Capex is $130 to 145 billion this year. Consensus is $192 billion for 2027 and Deutsche Bank expects $210 to 215 billion, on top of $349.3 billion of non-cancelable commitments. Culture is weak: Glassdoor 3.4 and CEO approval 33%, after about 8,000 roles were cut in May. Four things would make the thesis materialise: disclosed Muse, API or compute revenue; a 2027 capex guide at or below consensus with a stated peak; FoA margin back at 40%; and a New Mexico penalty near Meta's proposed $3.45 billion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line: Meta is a great business whose AI spend is clearly working in revenue but not yet in margins, and at $721 the market already pays for that success. The asymmetry is unfavourable: plus 42% to the optimistic $1,026, minus 63% to the conservative $267, minus 21% in the base case and about minus 16% probability-weighted. So I recommend Hold. Keep the Transitional classification and the existing position, and continue DCA at a measured pace. Concentrate adds at or below about $600, the probability-weighted value, or on a Section 0 setup: VIX above 30, or a sharp drop on a quantified one-off like the Q3 legal accrual. The significant bet is earned at $600, not at $721. I will re-run the Classification Test immediately after the Q3 10-Q, because the quality floor has zero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neys-general settlement brings about a $10 billion Q3 accrual. New Mexico seeks $35 to 40 billion, and the FTC appeal and the February 2027 school-district trials are pending. Capex is $130 to 145 billion this year. Consensus is $192 billion for 2027 and Deutsche Bank expects $210 to 215 billion, on top of $349.3 billion of non-cancelable commitments. Culture is weak: Glassdoor 3.4 and CEO approval 33%, after about 8,000 roles were cut in May. Four things would make the thesis materialise: disclosed Muse, API or compute revenue; a 2027 capex guide at or below consensus with a stated peak; FoA margin back at 40%; and a New Mexico penalty near Meta's proposed $3.45 billion cap.
## 6. Conclusion
Bottom line: Meta is a great business whose AI spend is clearly working in revenue but not yet in margins, and at $721 the market already pays for that success. The asymmetry is unfavourable: plus 42% to the optimistic $1,026, minus 63% to the conservative $267, minus 21% in the base case and about minus 16% probability-weighted. So I recommend Hold. Keep the Transitional classification and the existing position, and continue DCA at a measured pace. Concentrate adds at or below about $600, the probability-weighted value, or on a Section 0 setup: VIX above 30, or a sharp drop on a quantified one-off like the Q3 legal accrual. The significant bet is earned at $600, not at $721. I will re-run the Classification Test immediately after the Q3 10-Q, because the quality floor has zero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ODY">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2192000" cy="109728"/>
          </a:xfrm>
          <a:prstGeom prst="rect">
            <a:avLst/>
          </a:prstGeom>
          <a:solidFill>
            <a:srgbClr val="1D325C"/>
          </a:solidFill>
          <a:ln/>
        </p:spPr>
      </p:sp>
      <p:sp>
        <p:nvSpPr>
          <p:cNvPr id="3" name="Text 1"/>
          <p:cNvSpPr/>
          <p:nvPr/>
        </p:nvSpPr>
        <p:spPr>
          <a:xfrm>
            <a:off x="457200" y="6400800"/>
            <a:ext cx="8229600" cy="320040"/>
          </a:xfrm>
          <a:prstGeom prst="rect">
            <a:avLst/>
          </a:prstGeom>
          <a:noFill/>
          <a:ln/>
        </p:spPr>
        <p:txBody>
          <a:bodyPr wrap="square" rtlCol="0" anchor="ctr"/>
          <a:lstStyle/>
          <a:p>
            <a:pPr indent="0" marL="0">
              <a:buNone/>
            </a:pPr>
            <a:r>
              <a:rPr lang="en-US" sz="1000" dirty="0">
                <a:solidFill>
                  <a:srgbClr val="8A93A6"/>
                </a:solidFill>
                <a:latin typeface="Calibri" pitchFamily="34" charset="0"/>
                <a:ea typeface="Calibri" pitchFamily="34" charset="-122"/>
                <a:cs typeface="Calibri" pitchFamily="34" charset="-120"/>
              </a:rPr>
              <a:t>META · Investment Committee Pitch · 2026-10-08</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25C"/>
        </a:solidFill>
      </p:bgPr>
    </p:bg>
    <p:spTree>
      <p:nvGrpSpPr>
        <p:cNvPr id="1" name=""/>
        <p:cNvGrpSpPr/>
        <p:nvPr/>
      </p:nvGrpSpPr>
      <p:grpSpPr>
        <a:xfrm>
          <a:off x="0" y="0"/>
          <a:ext cx="0" cy="0"/>
          <a:chOff x="0" y="0"/>
          <a:chExt cx="0" cy="0"/>
        </a:xfrm>
      </p:grpSpPr>
      <p:sp>
        <p:nvSpPr>
          <p:cNvPr id="2" name="Text 0"/>
          <p:cNvSpPr/>
          <p:nvPr/>
        </p:nvSpPr>
        <p:spPr>
          <a:xfrm>
            <a:off x="640080" y="1280160"/>
            <a:ext cx="10972800" cy="10058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Meta Platforms, Inc. (META)</a:t>
            </a:r>
            <a:endParaRPr lang="en-US" sz="4000" dirty="0"/>
          </a:p>
        </p:txBody>
      </p:sp>
      <p:sp>
        <p:nvSpPr>
          <p:cNvPr id="3" name="Text 1"/>
          <p:cNvSpPr/>
          <p:nvPr/>
        </p:nvSpPr>
        <p:spPr>
          <a:xfrm>
            <a:off x="640080" y="2286000"/>
            <a:ext cx="10972800" cy="548640"/>
          </a:xfrm>
          <a:prstGeom prst="rect">
            <a:avLst/>
          </a:prstGeom>
          <a:noFill/>
          <a:ln/>
        </p:spPr>
        <p:txBody>
          <a:bodyPr wrap="square" rtlCol="0" anchor="ctr"/>
          <a:lstStyle/>
          <a:p>
            <a:pPr indent="0" marL="0">
              <a:buNone/>
            </a:pPr>
            <a:r>
              <a:rPr lang="en-US" sz="2200" dirty="0">
                <a:solidFill>
                  <a:srgbClr val="C9D1E3"/>
                </a:solidFill>
                <a:latin typeface="Calibri" pitchFamily="34" charset="0"/>
                <a:ea typeface="Calibri" pitchFamily="34" charset="-122"/>
                <a:cs typeface="Calibri" pitchFamily="34" charset="-120"/>
              </a:rPr>
              <a:t>META  ·  Investment Committee Pitch</a:t>
            </a:r>
            <a:endParaRPr lang="en-US" sz="2200" dirty="0"/>
          </a:p>
        </p:txBody>
      </p:sp>
      <p:sp>
        <p:nvSpPr>
          <p:cNvPr id="4" name="Text 2"/>
          <p:cNvSpPr/>
          <p:nvPr/>
        </p:nvSpPr>
        <p:spPr>
          <a:xfrm>
            <a:off x="640080" y="3108960"/>
            <a:ext cx="10789920" cy="1280160"/>
          </a:xfrm>
          <a:prstGeom prst="rect">
            <a:avLst/>
          </a:prstGeom>
          <a:noFill/>
          <a:ln/>
        </p:spPr>
        <p:txBody>
          <a:bodyPr wrap="square" rtlCol="0" anchor="t">
            <a:normAutofit/>
          </a:bodyPr>
          <a:lstStyle/>
          <a:p>
            <a:pPr indent="0" marL="0">
              <a:buNone/>
            </a:pPr>
            <a:r>
              <a:rPr lang="en-US" sz="1600" dirty="0">
                <a:solidFill>
                  <a:srgbClr val="FFFFFF"/>
                </a:solidFill>
                <a:latin typeface="Calibri" pitchFamily="34" charset="0"/>
                <a:ea typeface="Calibri" pitchFamily="34" charset="-122"/>
                <a:cs typeface="Calibri" pitchFamily="34" charset="-120"/>
              </a:rPr>
              <a:t>Meta's AI capex is already returning more than expected in revenue, but not yet in margins, and at $721 the market pays for success ahead of time.</a:t>
            </a:r>
            <a:endParaRPr lang="en-US" sz="1600" dirty="0"/>
          </a:p>
        </p:txBody>
      </p:sp>
      <p:sp>
        <p:nvSpPr>
          <p:cNvPr id="5" name="Shape 3"/>
          <p:cNvSpPr/>
          <p:nvPr/>
        </p:nvSpPr>
        <p:spPr>
          <a:xfrm>
            <a:off x="640080" y="4663440"/>
            <a:ext cx="2926080" cy="548640"/>
          </a:xfrm>
          <a:prstGeom prst="roundRect">
            <a:avLst>
              <a:gd name="adj" fmla="val 16667"/>
            </a:avLst>
          </a:prstGeom>
          <a:solidFill>
            <a:srgbClr val="FFC107"/>
          </a:solidFill>
          <a:ln w="12700">
            <a:solidFill>
              <a:srgbClr val="FFC107"/>
            </a:solidFill>
            <a:prstDash val="solid"/>
          </a:ln>
        </p:spPr>
      </p:sp>
      <p:sp>
        <p:nvSpPr>
          <p:cNvPr id="6" name="Text 4"/>
          <p:cNvSpPr/>
          <p:nvPr/>
        </p:nvSpPr>
        <p:spPr>
          <a:xfrm>
            <a:off x="640080" y="4663440"/>
            <a:ext cx="2926080" cy="5486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Hold</a:t>
            </a:r>
            <a:endParaRPr lang="en-US" sz="1600" dirty="0"/>
          </a:p>
        </p:txBody>
      </p:sp>
      <p:sp>
        <p:nvSpPr>
          <p:cNvPr id="7" name="Text 5"/>
          <p:cNvSpPr/>
          <p:nvPr/>
        </p:nvSpPr>
        <p:spPr>
          <a:xfrm>
            <a:off x="3749040" y="4663440"/>
            <a:ext cx="7772400" cy="548640"/>
          </a:xfrm>
          <a:prstGeom prst="rect">
            <a:avLst/>
          </a:prstGeom>
          <a:noFill/>
          <a:ln/>
        </p:spPr>
        <p:txBody>
          <a:bodyPr wrap="square" rtlCol="0" anchor="ctr"/>
          <a:lstStyle/>
          <a:p>
            <a:pPr indent="0" marL="0">
              <a:buNone/>
            </a:pPr>
            <a:r>
              <a:rPr lang="en-US" sz="1400" dirty="0">
                <a:solidFill>
                  <a:srgbClr val="C9D1E3"/>
                </a:solidFill>
                <a:latin typeface="Calibri" pitchFamily="34" charset="0"/>
                <a:ea typeface="Calibri" pitchFamily="34" charset="-122"/>
                <a:cs typeface="Calibri" pitchFamily="34" charset="-120"/>
              </a:rPr>
              <a:t>Transitional Holding   ·   Horizon: Next checkpoint: Q3 print on 28 Oct 2026, followed by an immediate Classification Test re-run. 12 months for the 2027 capex guide and the legal resolution. The margin and ROIC inflection is a 2028+ story within the 3-7 year Transitional window.</a:t>
            </a:r>
            <a:endParaRPr lang="en-US" sz="1400" dirty="0"/>
          </a:p>
        </p:txBody>
      </p:sp>
      <p:sp>
        <p:nvSpPr>
          <p:cNvPr id="8" name="Text 6"/>
          <p:cNvSpPr/>
          <p:nvPr/>
        </p:nvSpPr>
        <p:spPr>
          <a:xfrm>
            <a:off x="640080" y="6035040"/>
            <a:ext cx="10972800" cy="365760"/>
          </a:xfrm>
          <a:prstGeom prst="rect">
            <a:avLst/>
          </a:prstGeom>
          <a:noFill/>
          <a:ln/>
        </p:spPr>
        <p:txBody>
          <a:bodyPr wrap="square" rtlCol="0" anchor="ctr"/>
          <a:lstStyle/>
          <a:p>
            <a:pPr indent="0" marL="0">
              <a:buNone/>
            </a:pPr>
            <a:r>
              <a:rPr lang="en-US" sz="1100" dirty="0">
                <a:solidFill>
                  <a:srgbClr val="8A93A6"/>
                </a:solidFill>
                <a:latin typeface="Calibri" pitchFamily="34" charset="0"/>
                <a:ea typeface="Calibri" pitchFamily="34" charset="-122"/>
                <a:cs typeface="Calibri" pitchFamily="34" charset="-120"/>
              </a:rPr>
              <a:t>Prepared by Hamza Bassatne + Claude  ·  2026-10-08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1D325C"/>
                </a:solidFill>
                <a:latin typeface="Calibri" pitchFamily="34" charset="0"/>
                <a:ea typeface="Calibri" pitchFamily="34" charset="-122"/>
                <a:cs typeface="Calibri" pitchFamily="34" charset="-120"/>
              </a:rPr>
              <a:t>1. Executive Summary &amp; The Hook</a:t>
            </a:r>
            <a:endParaRPr lang="en-US" sz="2800" dirty="0"/>
          </a:p>
        </p:txBody>
      </p:sp>
      <p:sp>
        <p:nvSpPr>
          <p:cNvPr id="3" name="Text 1"/>
          <p:cNvSpPr/>
          <p:nvPr/>
        </p:nvSpPr>
        <p:spPr>
          <a:xfrm>
            <a:off x="457200" y="1097280"/>
            <a:ext cx="11247120" cy="548640"/>
          </a:xfrm>
          <a:prstGeom prst="rect">
            <a:avLst/>
          </a:prstGeom>
          <a:noFill/>
          <a:ln/>
        </p:spPr>
        <p:txBody>
          <a:bodyPr wrap="square" rtlCol="0" anchor="ctr">
            <a:normAutofit/>
          </a:bodyPr>
          <a:lstStyle/>
          <a:p>
            <a:pPr indent="0" marL="0">
              <a:buNone/>
            </a:pPr>
            <a:r>
              <a:rPr lang="en-US" sz="1500" i="1" dirty="0">
                <a:solidFill>
                  <a:srgbClr val="4A5468"/>
                </a:solidFill>
                <a:latin typeface="Calibri" pitchFamily="34" charset="0"/>
                <a:ea typeface="Calibri" pitchFamily="34" charset="-122"/>
                <a:cs typeface="Calibri" pitchFamily="34" charset="-120"/>
              </a:rPr>
              <a:t>The world's best performance-ad machine is a Transitional Holding with zero buffer, and the market is watching the wrong metric.</a:t>
            </a:r>
            <a:endParaRPr lang="en-US" sz="1500" dirty="0"/>
          </a:p>
        </p:txBody>
      </p:sp>
      <p:sp>
        <p:nvSpPr>
          <p:cNvPr id="4" name="Text 2"/>
          <p:cNvSpPr/>
          <p:nvPr/>
        </p:nvSpPr>
        <p:spPr>
          <a:xfrm>
            <a:off x="457200" y="1691640"/>
            <a:ext cx="6949440" cy="4343400"/>
          </a:xfrm>
          <a:prstGeom prst="rect">
            <a:avLst/>
          </a:prstGeom>
          <a:noFill/>
          <a:ln/>
        </p:spPr>
        <p:txBody>
          <a:bodyPr wrap="square" rtlCol="0" anchor="t">
            <a:normAutofit/>
          </a:bodyPr>
          <a:lstStyle/>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3.60bn daily active people; 26.8% of about $908bn global digital ads in 2026E, overtaking Google (26.4%)</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Advertisers are about 98% of revenue; 9m+ SMBs use AI creative tools; Advantage+ run-rate $75bn, up from $60bn</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Transitional: TTM revenue growth 27.7% (engine) plus 4/7 Compounding Machine thresholds (57%), the exact floor</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Unseen: incremental ROIC about 11% on capital added since FY2024; consensus EBIT margin about 34% through 2028</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Why now: not to add. The stock rose about 27% in September on Muse sentiment; Q3 print 28 Oct 2026</a:t>
            </a:r>
            <a:endParaRPr lang="en-US" sz="1500" dirty="0"/>
          </a:p>
        </p:txBody>
      </p:sp>
      <p:sp>
        <p:nvSpPr>
          <p:cNvPr id="5" name="Shape 3"/>
          <p:cNvSpPr/>
          <p:nvPr/>
        </p:nvSpPr>
        <p:spPr>
          <a:xfrm>
            <a:off x="7680960" y="1691640"/>
            <a:ext cx="1920240" cy="1234440"/>
          </a:xfrm>
          <a:prstGeom prst="roundRect">
            <a:avLst>
              <a:gd name="adj" fmla="val 5926"/>
            </a:avLst>
          </a:prstGeom>
          <a:solidFill>
            <a:srgbClr val="FFFFFF"/>
          </a:solidFill>
          <a:ln w="12700">
            <a:solidFill>
              <a:srgbClr val="E6E8EB"/>
            </a:solidFill>
            <a:prstDash val="solid"/>
          </a:ln>
        </p:spPr>
      </p:sp>
      <p:sp>
        <p:nvSpPr>
          <p:cNvPr id="6" name="Text 4"/>
          <p:cNvSpPr/>
          <p:nvPr/>
        </p:nvSpPr>
        <p:spPr>
          <a:xfrm>
            <a:off x="768096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+28%</a:t>
            </a:r>
            <a:endParaRPr lang="en-US" sz="2200" dirty="0"/>
          </a:p>
        </p:txBody>
      </p:sp>
      <p:sp>
        <p:nvSpPr>
          <p:cNvPr id="7" name="Text 5"/>
          <p:cNvSpPr/>
          <p:nvPr/>
        </p:nvSpPr>
        <p:spPr>
          <a:xfrm>
            <a:off x="768096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Revenue growth (Q2'26)</a:t>
            </a:r>
            <a:endParaRPr lang="en-US" sz="1000" dirty="0"/>
          </a:p>
        </p:txBody>
      </p:sp>
      <p:sp>
        <p:nvSpPr>
          <p:cNvPr id="8" name="Shape 6"/>
          <p:cNvSpPr/>
          <p:nvPr/>
        </p:nvSpPr>
        <p:spPr>
          <a:xfrm>
            <a:off x="9784080" y="1691640"/>
            <a:ext cx="1920240" cy="1234440"/>
          </a:xfrm>
          <a:prstGeom prst="roundRect">
            <a:avLst>
              <a:gd name="adj" fmla="val 5926"/>
            </a:avLst>
          </a:prstGeom>
          <a:solidFill>
            <a:srgbClr val="FFFFFF"/>
          </a:solidFill>
          <a:ln w="12700">
            <a:solidFill>
              <a:srgbClr val="E6E8EB"/>
            </a:solidFill>
            <a:prstDash val="solid"/>
          </a:ln>
        </p:spPr>
      </p:sp>
      <p:sp>
        <p:nvSpPr>
          <p:cNvPr id="9" name="Text 7"/>
          <p:cNvSpPr/>
          <p:nvPr/>
        </p:nvSpPr>
        <p:spPr>
          <a:xfrm>
            <a:off x="978408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81.7%</a:t>
            </a:r>
            <a:endParaRPr lang="en-US" sz="2200" dirty="0"/>
          </a:p>
        </p:txBody>
      </p:sp>
      <p:sp>
        <p:nvSpPr>
          <p:cNvPr id="10" name="Text 8"/>
          <p:cNvSpPr/>
          <p:nvPr/>
        </p:nvSpPr>
        <p:spPr>
          <a:xfrm>
            <a:off x="978408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Gross margin (TTM)</a:t>
            </a:r>
            <a:endParaRPr lang="en-US" sz="1000" dirty="0"/>
          </a:p>
        </p:txBody>
      </p:sp>
      <p:sp>
        <p:nvSpPr>
          <p:cNvPr id="11" name="Shape 9"/>
          <p:cNvSpPr/>
          <p:nvPr/>
        </p:nvSpPr>
        <p:spPr>
          <a:xfrm>
            <a:off x="7680960" y="3108960"/>
            <a:ext cx="1920240" cy="1234440"/>
          </a:xfrm>
          <a:prstGeom prst="roundRect">
            <a:avLst>
              <a:gd name="adj" fmla="val 5926"/>
            </a:avLst>
          </a:prstGeom>
          <a:solidFill>
            <a:srgbClr val="FFFFFF"/>
          </a:solidFill>
          <a:ln w="12700">
            <a:solidFill>
              <a:srgbClr val="E6E8EB"/>
            </a:solidFill>
            <a:prstDash val="solid"/>
          </a:ln>
        </p:spPr>
      </p:sp>
      <p:sp>
        <p:nvSpPr>
          <p:cNvPr id="12" name="Text 10"/>
          <p:cNvSpPr/>
          <p:nvPr/>
        </p:nvSpPr>
        <p:spPr>
          <a:xfrm>
            <a:off x="768096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4/7 (57%)</a:t>
            </a:r>
            <a:endParaRPr lang="en-US" sz="2200" dirty="0"/>
          </a:p>
        </p:txBody>
      </p:sp>
      <p:sp>
        <p:nvSpPr>
          <p:cNvPr id="13" name="Text 11"/>
          <p:cNvSpPr/>
          <p:nvPr/>
        </p:nvSpPr>
        <p:spPr>
          <a:xfrm>
            <a:off x="768096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Classification Test</a:t>
            </a:r>
            <a:endParaRPr lang="en-US" sz="1000" dirty="0"/>
          </a:p>
        </p:txBody>
      </p:sp>
      <p:sp>
        <p:nvSpPr>
          <p:cNvPr id="14" name="Shape 12"/>
          <p:cNvSpPr/>
          <p:nvPr/>
        </p:nvSpPr>
        <p:spPr>
          <a:xfrm>
            <a:off x="9784080" y="3108960"/>
            <a:ext cx="1920240" cy="1234440"/>
          </a:xfrm>
          <a:prstGeom prst="roundRect">
            <a:avLst>
              <a:gd name="adj" fmla="val 5926"/>
            </a:avLst>
          </a:prstGeom>
          <a:solidFill>
            <a:srgbClr val="FFFFFF"/>
          </a:solidFill>
          <a:ln w="12700">
            <a:solidFill>
              <a:srgbClr val="E6E8EB"/>
            </a:solidFill>
            <a:prstDash val="solid"/>
          </a:ln>
        </p:spPr>
      </p:sp>
      <p:sp>
        <p:nvSpPr>
          <p:cNvPr id="15" name="Text 13"/>
          <p:cNvSpPr/>
          <p:nvPr/>
        </p:nvSpPr>
        <p:spPr>
          <a:xfrm>
            <a:off x="978408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~11%</a:t>
            </a:r>
            <a:endParaRPr lang="en-US" sz="2200" dirty="0"/>
          </a:p>
        </p:txBody>
      </p:sp>
      <p:sp>
        <p:nvSpPr>
          <p:cNvPr id="16" name="Text 14"/>
          <p:cNvSpPr/>
          <p:nvPr/>
        </p:nvSpPr>
        <p:spPr>
          <a:xfrm>
            <a:off x="978408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Incremental ROIC</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1D325C"/>
                </a:solidFill>
                <a:latin typeface="Calibri" pitchFamily="34" charset="0"/>
                <a:ea typeface="Calibri" pitchFamily="34" charset="-122"/>
                <a:cs typeface="Calibri" pitchFamily="34" charset="-120"/>
              </a:rPr>
              <a:t>2. Business Quality &amp; Moat Defense</a:t>
            </a:r>
            <a:endParaRPr lang="en-US" sz="2800" dirty="0"/>
          </a:p>
        </p:txBody>
      </p:sp>
      <p:sp>
        <p:nvSpPr>
          <p:cNvPr id="3" name="Text 1"/>
          <p:cNvSpPr/>
          <p:nvPr/>
        </p:nvSpPr>
        <p:spPr>
          <a:xfrm>
            <a:off x="457200" y="1097280"/>
            <a:ext cx="11247120" cy="548640"/>
          </a:xfrm>
          <a:prstGeom prst="rect">
            <a:avLst/>
          </a:prstGeom>
          <a:noFill/>
          <a:ln/>
        </p:spPr>
        <p:txBody>
          <a:bodyPr wrap="square" rtlCol="0" anchor="ctr">
            <a:normAutofit/>
          </a:bodyPr>
          <a:lstStyle/>
          <a:p>
            <a:pPr indent="0" marL="0">
              <a:buNone/>
            </a:pPr>
            <a:r>
              <a:rPr lang="en-US" sz="1500" i="1" dirty="0">
                <a:solidFill>
                  <a:srgbClr val="4A5468"/>
                </a:solidFill>
                <a:latin typeface="Calibri" pitchFamily="34" charset="0"/>
                <a:ea typeface="Calibri" pitchFamily="34" charset="-122"/>
                <a:cs typeface="Calibri" pitchFamily="34" charset="-120"/>
              </a:rPr>
              <a:t>Network effect and pricing power are measurably strong, but the moat is becoming capital-heavy and returns are eroding.</a:t>
            </a:r>
            <a:endParaRPr lang="en-US" sz="1500" dirty="0"/>
          </a:p>
        </p:txBody>
      </p:sp>
      <p:sp>
        <p:nvSpPr>
          <p:cNvPr id="4" name="Text 2"/>
          <p:cNvSpPr/>
          <p:nvPr/>
        </p:nvSpPr>
        <p:spPr>
          <a:xfrm>
            <a:off x="457200" y="1691640"/>
            <a:ext cx="6949440" cy="4343400"/>
          </a:xfrm>
          <a:prstGeom prst="rect">
            <a:avLst/>
          </a:prstGeom>
          <a:noFill/>
          <a:ln/>
        </p:spPr>
        <p:txBody>
          <a:bodyPr wrap="square" rtlCol="0" anchor="t">
            <a:normAutofit/>
          </a:bodyPr>
          <a:lstStyle/>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Price per ad +12% vs US CPI +3.4% (about 3.5x inflation); impressions +14%; gross margin about 82% for 5 quarters</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AI ranking lifted Facebook clicks 8.3% and conversions 15.7% in Q2; ARPP $16.86 (+24% YoY)</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8 of 8 revenue beats, 6 at or above the top of guidance; growth 16% (Q1'25) to 33% (Q1'26) to 28% (Q2'26)</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Growing about 2x Google Services (+15%); gross margin above Google (60.9%) and Amazon (50.8%)</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Erosion: ROCE 28.6% to 25.7% to 22.1%; asset turnover 0.63x to 0.56x; FoA op margin 53.0% to 38.8%</a:t>
            </a:r>
            <a:endParaRPr lang="en-US" sz="1500" dirty="0"/>
          </a:p>
        </p:txBody>
      </p:sp>
      <p:sp>
        <p:nvSpPr>
          <p:cNvPr id="5" name="Shape 3"/>
          <p:cNvSpPr/>
          <p:nvPr/>
        </p:nvSpPr>
        <p:spPr>
          <a:xfrm>
            <a:off x="7680960" y="1691640"/>
            <a:ext cx="1920240" cy="1234440"/>
          </a:xfrm>
          <a:prstGeom prst="roundRect">
            <a:avLst>
              <a:gd name="adj" fmla="val 5926"/>
            </a:avLst>
          </a:prstGeom>
          <a:solidFill>
            <a:srgbClr val="FFFFFF"/>
          </a:solidFill>
          <a:ln w="12700">
            <a:solidFill>
              <a:srgbClr val="E6E8EB"/>
            </a:solidFill>
            <a:prstDash val="solid"/>
          </a:ln>
        </p:spPr>
      </p:sp>
      <p:sp>
        <p:nvSpPr>
          <p:cNvPr id="6" name="Text 4"/>
          <p:cNvSpPr/>
          <p:nvPr/>
        </p:nvSpPr>
        <p:spPr>
          <a:xfrm>
            <a:off x="768096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+12% vs +3.4%</a:t>
            </a:r>
            <a:endParaRPr lang="en-US" sz="2200" dirty="0"/>
          </a:p>
        </p:txBody>
      </p:sp>
      <p:sp>
        <p:nvSpPr>
          <p:cNvPr id="7" name="Text 5"/>
          <p:cNvSpPr/>
          <p:nvPr/>
        </p:nvSpPr>
        <p:spPr>
          <a:xfrm>
            <a:off x="768096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Price per ad vs CPI</a:t>
            </a:r>
            <a:endParaRPr lang="en-US" sz="1000" dirty="0"/>
          </a:p>
        </p:txBody>
      </p:sp>
      <p:sp>
        <p:nvSpPr>
          <p:cNvPr id="8" name="Shape 6"/>
          <p:cNvSpPr/>
          <p:nvPr/>
        </p:nvSpPr>
        <p:spPr>
          <a:xfrm>
            <a:off x="9784080" y="1691640"/>
            <a:ext cx="1920240" cy="1234440"/>
          </a:xfrm>
          <a:prstGeom prst="roundRect">
            <a:avLst>
              <a:gd name="adj" fmla="val 5926"/>
            </a:avLst>
          </a:prstGeom>
          <a:solidFill>
            <a:srgbClr val="FFFFFF"/>
          </a:solidFill>
          <a:ln w="12700">
            <a:solidFill>
              <a:srgbClr val="E6E8EB"/>
            </a:solidFill>
            <a:prstDash val="solid"/>
          </a:ln>
        </p:spPr>
      </p:sp>
      <p:sp>
        <p:nvSpPr>
          <p:cNvPr id="9" name="Text 7"/>
          <p:cNvSpPr/>
          <p:nvPr/>
        </p:nvSpPr>
        <p:spPr>
          <a:xfrm>
            <a:off x="978408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29.7% / 20.0%</a:t>
            </a:r>
            <a:endParaRPr lang="en-US" sz="2200" dirty="0"/>
          </a:p>
        </p:txBody>
      </p:sp>
      <p:sp>
        <p:nvSpPr>
          <p:cNvPr id="10" name="Text 8"/>
          <p:cNvSpPr/>
          <p:nvPr/>
        </p:nvSpPr>
        <p:spPr>
          <a:xfrm>
            <a:off x="978408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ROIC TTM (net / gross)</a:t>
            </a:r>
            <a:endParaRPr lang="en-US" sz="1000" dirty="0"/>
          </a:p>
        </p:txBody>
      </p:sp>
      <p:sp>
        <p:nvSpPr>
          <p:cNvPr id="11" name="Shape 9"/>
          <p:cNvSpPr/>
          <p:nvPr/>
        </p:nvSpPr>
        <p:spPr>
          <a:xfrm>
            <a:off x="7680960" y="3108960"/>
            <a:ext cx="1920240" cy="1234440"/>
          </a:xfrm>
          <a:prstGeom prst="roundRect">
            <a:avLst>
              <a:gd name="adj" fmla="val 5926"/>
            </a:avLst>
          </a:prstGeom>
          <a:solidFill>
            <a:srgbClr val="FFFFFF"/>
          </a:solidFill>
          <a:ln w="12700">
            <a:solidFill>
              <a:srgbClr val="E6E8EB"/>
            </a:solidFill>
            <a:prstDash val="solid"/>
          </a:ln>
        </p:spPr>
      </p:sp>
      <p:sp>
        <p:nvSpPr>
          <p:cNvPr id="12" name="Text 10"/>
          <p:cNvSpPr/>
          <p:nvPr/>
        </p:nvSpPr>
        <p:spPr>
          <a:xfrm>
            <a:off x="768096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55.6%</a:t>
            </a:r>
            <a:endParaRPr lang="en-US" sz="2200" dirty="0"/>
          </a:p>
        </p:txBody>
      </p:sp>
      <p:sp>
        <p:nvSpPr>
          <p:cNvPr id="13" name="Text 11"/>
          <p:cNvSpPr/>
          <p:nvPr/>
        </p:nvSpPr>
        <p:spPr>
          <a:xfrm>
            <a:off x="768096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FCF conversion</a:t>
            </a:r>
            <a:endParaRPr lang="en-US" sz="1000" dirty="0"/>
          </a:p>
        </p:txBody>
      </p:sp>
      <p:sp>
        <p:nvSpPr>
          <p:cNvPr id="14" name="Shape 12"/>
          <p:cNvSpPr/>
          <p:nvPr/>
        </p:nvSpPr>
        <p:spPr>
          <a:xfrm>
            <a:off x="9784080" y="3108960"/>
            <a:ext cx="1920240" cy="1234440"/>
          </a:xfrm>
          <a:prstGeom prst="roundRect">
            <a:avLst>
              <a:gd name="adj" fmla="val 5926"/>
            </a:avLst>
          </a:prstGeom>
          <a:solidFill>
            <a:srgbClr val="FFFFFF"/>
          </a:solidFill>
          <a:ln w="12700">
            <a:solidFill>
              <a:srgbClr val="E6E8EB"/>
            </a:solidFill>
            <a:prstDash val="solid"/>
          </a:ln>
        </p:spPr>
      </p:sp>
      <p:sp>
        <p:nvSpPr>
          <p:cNvPr id="15" name="Text 13"/>
          <p:cNvSpPr/>
          <p:nvPr/>
        </p:nvSpPr>
        <p:spPr>
          <a:xfrm>
            <a:off x="978408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+24%</a:t>
            </a:r>
            <a:endParaRPr lang="en-US" sz="2200" dirty="0"/>
          </a:p>
        </p:txBody>
      </p:sp>
      <p:sp>
        <p:nvSpPr>
          <p:cNvPr id="16" name="Text 14"/>
          <p:cNvSpPr/>
          <p:nvPr/>
        </p:nvSpPr>
        <p:spPr>
          <a:xfrm>
            <a:off x="978408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ARPP growth</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1D325C"/>
                </a:solidFill>
                <a:latin typeface="Calibri" pitchFamily="34" charset="0"/>
                <a:ea typeface="Calibri" pitchFamily="34" charset="-122"/>
                <a:cs typeface="Calibri" pitchFamily="34" charset="-120"/>
              </a:rPr>
              <a:t>3. Statistical Validation of the Thesis</a:t>
            </a:r>
            <a:endParaRPr lang="en-US" sz="2800" dirty="0"/>
          </a:p>
        </p:txBody>
      </p:sp>
      <p:sp>
        <p:nvSpPr>
          <p:cNvPr id="3" name="Text 1"/>
          <p:cNvSpPr/>
          <p:nvPr/>
        </p:nvSpPr>
        <p:spPr>
          <a:xfrm>
            <a:off x="457200" y="1097280"/>
            <a:ext cx="11247120" cy="548640"/>
          </a:xfrm>
          <a:prstGeom prst="rect">
            <a:avLst/>
          </a:prstGeom>
          <a:noFill/>
          <a:ln/>
        </p:spPr>
        <p:txBody>
          <a:bodyPr wrap="square" rtlCol="0" anchor="ctr">
            <a:normAutofit/>
          </a:bodyPr>
          <a:lstStyle/>
          <a:p>
            <a:pPr indent="0" marL="0">
              <a:buNone/>
            </a:pPr>
            <a:r>
              <a:rPr lang="en-US" sz="1500" i="1" dirty="0">
                <a:solidFill>
                  <a:srgbClr val="4A5468"/>
                </a:solidFill>
                <a:latin typeface="Calibri" pitchFamily="34" charset="0"/>
                <a:ea typeface="Calibri" pitchFamily="34" charset="-122"/>
                <a:cs typeface="Calibri" pitchFamily="34" charset="-120"/>
              </a:rPr>
              <a:t>Across 45 earnings events, capex shocks have never left a significant mark on META's abnormal returns, so the thesis is not an edge.</a:t>
            </a:r>
            <a:endParaRPr lang="en-US" sz="1500" dirty="0"/>
          </a:p>
        </p:txBody>
      </p:sp>
      <p:sp>
        <p:nvSpPr>
          <p:cNvPr id="4" name="Text 2"/>
          <p:cNvSpPr/>
          <p:nvPr/>
        </p:nvSpPr>
        <p:spPr>
          <a:xfrm>
            <a:off x="457200" y="1691640"/>
            <a:ext cx="6949440" cy="4343400"/>
          </a:xfrm>
          <a:prstGeom prst="rect">
            <a:avLst/>
          </a:prstGeom>
          <a:noFill/>
          <a:ln/>
        </p:spPr>
        <p:txBody>
          <a:bodyPr wrap="square" rtlCol="0" anchor="t">
            <a:normAutofit/>
          </a:bodyPr>
          <a:lstStyle/>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45 events, 2015-2026; market model SPY plus orthogonalised sector factor explains about 63% of daily variance</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T1: CAR on delta capex intensity, beta -0.082%/pp, z -0.51, p 0.608, R² 0.073</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T2 drift p 0.478 (no under-pricing); T3 step-up +0.64% vs other +0.54%, p 0.969</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T4a revenue on lagged capex: wrong sign, p 0.289; T4b margin p 0.942</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AI-era 7 reactions average -0.7%; power detects only about 4.5% CAR per 10pp shock</a:t>
            </a:r>
            <a:endParaRPr lang="en-US" sz="1500" dirty="0"/>
          </a:p>
        </p:txBody>
      </p:sp>
      <p:sp>
        <p:nvSpPr>
          <p:cNvPr id="5" name="Shape 3"/>
          <p:cNvSpPr/>
          <p:nvPr/>
        </p:nvSpPr>
        <p:spPr>
          <a:xfrm>
            <a:off x="7680960" y="1691640"/>
            <a:ext cx="1920240" cy="1234440"/>
          </a:xfrm>
          <a:prstGeom prst="roundRect">
            <a:avLst>
              <a:gd name="adj" fmla="val 5926"/>
            </a:avLst>
          </a:prstGeom>
          <a:solidFill>
            <a:srgbClr val="FFFFFF"/>
          </a:solidFill>
          <a:ln w="12700">
            <a:solidFill>
              <a:srgbClr val="E6E8EB"/>
            </a:solidFill>
            <a:prstDash val="solid"/>
          </a:ln>
        </p:spPr>
      </p:sp>
      <p:sp>
        <p:nvSpPr>
          <p:cNvPr id="6" name="Text 4"/>
          <p:cNvSpPr/>
          <p:nvPr/>
        </p:nvSpPr>
        <p:spPr>
          <a:xfrm>
            <a:off x="768096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0.608</a:t>
            </a:r>
            <a:endParaRPr lang="en-US" sz="2200" dirty="0"/>
          </a:p>
        </p:txBody>
      </p:sp>
      <p:sp>
        <p:nvSpPr>
          <p:cNvPr id="7" name="Text 5"/>
          <p:cNvSpPr/>
          <p:nvPr/>
        </p:nvSpPr>
        <p:spPr>
          <a:xfrm>
            <a:off x="768096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T1 p-value</a:t>
            </a:r>
            <a:endParaRPr lang="en-US" sz="1000" dirty="0"/>
          </a:p>
        </p:txBody>
      </p:sp>
      <p:sp>
        <p:nvSpPr>
          <p:cNvPr id="8" name="Shape 6"/>
          <p:cNvSpPr/>
          <p:nvPr/>
        </p:nvSpPr>
        <p:spPr>
          <a:xfrm>
            <a:off x="9784080" y="1691640"/>
            <a:ext cx="1920240" cy="1234440"/>
          </a:xfrm>
          <a:prstGeom prst="roundRect">
            <a:avLst>
              <a:gd name="adj" fmla="val 5926"/>
            </a:avLst>
          </a:prstGeom>
          <a:solidFill>
            <a:srgbClr val="FFFFFF"/>
          </a:solidFill>
          <a:ln w="12700">
            <a:solidFill>
              <a:srgbClr val="E6E8EB"/>
            </a:solidFill>
            <a:prstDash val="solid"/>
          </a:ln>
        </p:spPr>
      </p:sp>
      <p:sp>
        <p:nvSpPr>
          <p:cNvPr id="9" name="Text 7"/>
          <p:cNvSpPr/>
          <p:nvPr/>
        </p:nvSpPr>
        <p:spPr>
          <a:xfrm>
            <a:off x="978408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0.073</a:t>
            </a:r>
            <a:endParaRPr lang="en-US" sz="2200" dirty="0"/>
          </a:p>
        </p:txBody>
      </p:sp>
      <p:sp>
        <p:nvSpPr>
          <p:cNvPr id="10" name="Text 8"/>
          <p:cNvSpPr/>
          <p:nvPr/>
        </p:nvSpPr>
        <p:spPr>
          <a:xfrm>
            <a:off x="978408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R²</a:t>
            </a:r>
            <a:endParaRPr lang="en-US" sz="1000" dirty="0"/>
          </a:p>
        </p:txBody>
      </p:sp>
      <p:sp>
        <p:nvSpPr>
          <p:cNvPr id="11" name="Shape 9"/>
          <p:cNvSpPr/>
          <p:nvPr/>
        </p:nvSpPr>
        <p:spPr>
          <a:xfrm>
            <a:off x="7680960" y="3108960"/>
            <a:ext cx="1920240" cy="1234440"/>
          </a:xfrm>
          <a:prstGeom prst="roundRect">
            <a:avLst>
              <a:gd name="adj" fmla="val 5926"/>
            </a:avLst>
          </a:prstGeom>
          <a:solidFill>
            <a:srgbClr val="FFFFFF"/>
          </a:solidFill>
          <a:ln w="12700">
            <a:solidFill>
              <a:srgbClr val="E6E8EB"/>
            </a:solidFill>
            <a:prstDash val="solid"/>
          </a:ln>
        </p:spPr>
      </p:sp>
      <p:sp>
        <p:nvSpPr>
          <p:cNvPr id="12" name="Text 10"/>
          <p:cNvSpPr/>
          <p:nvPr/>
        </p:nvSpPr>
        <p:spPr>
          <a:xfrm>
            <a:off x="768096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45</a:t>
            </a:r>
            <a:endParaRPr lang="en-US" sz="2200" dirty="0"/>
          </a:p>
        </p:txBody>
      </p:sp>
      <p:sp>
        <p:nvSpPr>
          <p:cNvPr id="13" name="Text 11"/>
          <p:cNvSpPr/>
          <p:nvPr/>
        </p:nvSpPr>
        <p:spPr>
          <a:xfrm>
            <a:off x="768096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Events (n)</a:t>
            </a:r>
            <a:endParaRPr lang="en-US" sz="1000" dirty="0"/>
          </a:p>
        </p:txBody>
      </p:sp>
      <p:sp>
        <p:nvSpPr>
          <p:cNvPr id="14" name="Shape 12"/>
          <p:cNvSpPr/>
          <p:nvPr/>
        </p:nvSpPr>
        <p:spPr>
          <a:xfrm>
            <a:off x="9784080" y="3108960"/>
            <a:ext cx="1920240" cy="1234440"/>
          </a:xfrm>
          <a:prstGeom prst="roundRect">
            <a:avLst>
              <a:gd name="adj" fmla="val 5926"/>
            </a:avLst>
          </a:prstGeom>
          <a:solidFill>
            <a:srgbClr val="FFFFFF"/>
          </a:solidFill>
          <a:ln w="12700">
            <a:solidFill>
              <a:srgbClr val="E6E8EB"/>
            </a:solidFill>
            <a:prstDash val="solid"/>
          </a:ln>
        </p:spPr>
      </p:sp>
      <p:sp>
        <p:nvSpPr>
          <p:cNvPr id="15" name="Text 13"/>
          <p:cNvSpPr/>
          <p:nvPr/>
        </p:nvSpPr>
        <p:spPr>
          <a:xfrm>
            <a:off x="978408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7</a:t>
            </a:r>
            <a:endParaRPr lang="en-US" sz="2200" dirty="0"/>
          </a:p>
        </p:txBody>
      </p:sp>
      <p:sp>
        <p:nvSpPr>
          <p:cNvPr id="16" name="Text 14"/>
          <p:cNvSpPr/>
          <p:nvPr/>
        </p:nvSpPr>
        <p:spPr>
          <a:xfrm>
            <a:off x="978408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AI-era events</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1D325C"/>
                </a:solidFill>
                <a:latin typeface="Calibri" pitchFamily="34" charset="0"/>
                <a:ea typeface="Calibri" pitchFamily="34" charset="-122"/>
                <a:cs typeface="Calibri" pitchFamily="34" charset="-120"/>
              </a:rPr>
              <a:t>4. Valuation</a:t>
            </a:r>
            <a:endParaRPr lang="en-US" sz="2800" dirty="0"/>
          </a:p>
        </p:txBody>
      </p:sp>
      <p:sp>
        <p:nvSpPr>
          <p:cNvPr id="3" name="Text 1"/>
          <p:cNvSpPr/>
          <p:nvPr/>
        </p:nvSpPr>
        <p:spPr>
          <a:xfrm>
            <a:off x="457200" y="1097280"/>
            <a:ext cx="11247120" cy="548640"/>
          </a:xfrm>
          <a:prstGeom prst="rect">
            <a:avLst/>
          </a:prstGeom>
          <a:noFill/>
          <a:ln/>
        </p:spPr>
        <p:txBody>
          <a:bodyPr wrap="square" rtlCol="0" anchor="ctr">
            <a:normAutofit/>
          </a:bodyPr>
          <a:lstStyle/>
          <a:p>
            <a:pPr indent="0" marL="0">
              <a:buNone/>
            </a:pPr>
            <a:r>
              <a:rPr lang="en-US" sz="1500" i="1" dirty="0">
                <a:solidFill>
                  <a:srgbClr val="4A5468"/>
                </a:solidFill>
                <a:latin typeface="Calibri" pitchFamily="34" charset="0"/>
                <a:ea typeface="Calibri" pitchFamily="34" charset="-122"/>
                <a:cs typeface="Calibri" pitchFamily="34" charset="-120"/>
              </a:rPr>
              <a:t>At 23.2x forward earnings and an implied 9.1% discount rate, $721 already prices a better-than-consensus AI payback.</a:t>
            </a:r>
            <a:endParaRPr lang="en-US" sz="1500" dirty="0"/>
          </a:p>
        </p:txBody>
      </p:sp>
      <p:sp>
        <p:nvSpPr>
          <p:cNvPr id="4" name="Text 2"/>
          <p:cNvSpPr/>
          <p:nvPr/>
        </p:nvSpPr>
        <p:spPr>
          <a:xfrm>
            <a:off x="457200" y="1691640"/>
            <a:ext cx="6949440" cy="4343400"/>
          </a:xfrm>
          <a:prstGeom prst="rect">
            <a:avLst/>
          </a:prstGeom>
          <a:noFill/>
          <a:ln/>
        </p:spPr>
        <p:txBody>
          <a:bodyPr wrap="square" rtlCol="0" anchor="t">
            <a:normAutofit/>
          </a:bodyPr>
          <a:lstStyle/>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Forward P/E 23.2x FY26E vs Communication Services 19.1x; 5-yr mean about 25.3x; about 17x in Aug 2026</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FCF yield 2.06% TTM; consensus FCF -$6.5bn FY26E, -$25.3bn FY27E; P/OCF 14.1x</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DCF $267 / $566 / $1,026 at WACC 11.3% / 10.3% / 9.3%; base case -21%</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Reverse DCF: $721 implies about a 9.1% discount rate vs CAPM WACC 10.3%; probability-weighted about $607 (-16%)</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Multiple moved about 17x to 23x on the Muse launch and +27% September, not on reported Muse revenue</a:t>
            </a:r>
            <a:endParaRPr lang="en-US" sz="1500" dirty="0"/>
          </a:p>
        </p:txBody>
      </p:sp>
      <p:sp>
        <p:nvSpPr>
          <p:cNvPr id="5" name="Shape 3"/>
          <p:cNvSpPr/>
          <p:nvPr/>
        </p:nvSpPr>
        <p:spPr>
          <a:xfrm>
            <a:off x="7680960" y="1691640"/>
            <a:ext cx="1920240" cy="1234440"/>
          </a:xfrm>
          <a:prstGeom prst="roundRect">
            <a:avLst>
              <a:gd name="adj" fmla="val 5926"/>
            </a:avLst>
          </a:prstGeom>
          <a:solidFill>
            <a:srgbClr val="FFFFFF"/>
          </a:solidFill>
          <a:ln w="12700">
            <a:solidFill>
              <a:srgbClr val="E6E8EB"/>
            </a:solidFill>
            <a:prstDash val="solid"/>
          </a:ln>
        </p:spPr>
      </p:sp>
      <p:sp>
        <p:nvSpPr>
          <p:cNvPr id="6" name="Text 4"/>
          <p:cNvSpPr/>
          <p:nvPr/>
        </p:nvSpPr>
        <p:spPr>
          <a:xfrm>
            <a:off x="768096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23.2x</a:t>
            </a:r>
            <a:endParaRPr lang="en-US" sz="2200" dirty="0"/>
          </a:p>
        </p:txBody>
      </p:sp>
      <p:sp>
        <p:nvSpPr>
          <p:cNvPr id="7" name="Text 5"/>
          <p:cNvSpPr/>
          <p:nvPr/>
        </p:nvSpPr>
        <p:spPr>
          <a:xfrm>
            <a:off x="768096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Forward P/E (FY26E)</a:t>
            </a:r>
            <a:endParaRPr lang="en-US" sz="1000" dirty="0"/>
          </a:p>
        </p:txBody>
      </p:sp>
      <p:sp>
        <p:nvSpPr>
          <p:cNvPr id="8" name="Shape 6"/>
          <p:cNvSpPr/>
          <p:nvPr/>
        </p:nvSpPr>
        <p:spPr>
          <a:xfrm>
            <a:off x="9784080" y="1691640"/>
            <a:ext cx="1920240" cy="1234440"/>
          </a:xfrm>
          <a:prstGeom prst="roundRect">
            <a:avLst>
              <a:gd name="adj" fmla="val 5926"/>
            </a:avLst>
          </a:prstGeom>
          <a:solidFill>
            <a:srgbClr val="FFFFFF"/>
          </a:solidFill>
          <a:ln w="12700">
            <a:solidFill>
              <a:srgbClr val="E6E8EB"/>
            </a:solidFill>
            <a:prstDash val="solid"/>
          </a:ln>
        </p:spPr>
      </p:sp>
      <p:sp>
        <p:nvSpPr>
          <p:cNvPr id="9" name="Text 7"/>
          <p:cNvSpPr/>
          <p:nvPr/>
        </p:nvSpPr>
        <p:spPr>
          <a:xfrm>
            <a:off x="978408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$566</a:t>
            </a:r>
            <a:endParaRPr lang="en-US" sz="2200" dirty="0"/>
          </a:p>
        </p:txBody>
      </p:sp>
      <p:sp>
        <p:nvSpPr>
          <p:cNvPr id="10" name="Text 8"/>
          <p:cNvSpPr/>
          <p:nvPr/>
        </p:nvSpPr>
        <p:spPr>
          <a:xfrm>
            <a:off x="978408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Base DCF</a:t>
            </a:r>
            <a:endParaRPr lang="en-US" sz="1000" dirty="0"/>
          </a:p>
        </p:txBody>
      </p:sp>
      <p:sp>
        <p:nvSpPr>
          <p:cNvPr id="11" name="Shape 9"/>
          <p:cNvSpPr/>
          <p:nvPr/>
        </p:nvSpPr>
        <p:spPr>
          <a:xfrm>
            <a:off x="7680960" y="3108960"/>
            <a:ext cx="1920240" cy="1234440"/>
          </a:xfrm>
          <a:prstGeom prst="roundRect">
            <a:avLst>
              <a:gd name="adj" fmla="val 5926"/>
            </a:avLst>
          </a:prstGeom>
          <a:solidFill>
            <a:srgbClr val="FFFFFF"/>
          </a:solidFill>
          <a:ln w="12700">
            <a:solidFill>
              <a:srgbClr val="E6E8EB"/>
            </a:solidFill>
            <a:prstDash val="solid"/>
          </a:ln>
        </p:spPr>
      </p:sp>
      <p:sp>
        <p:nvSpPr>
          <p:cNvPr id="12" name="Text 10"/>
          <p:cNvSpPr/>
          <p:nvPr/>
        </p:nvSpPr>
        <p:spPr>
          <a:xfrm>
            <a:off x="768096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~$607</a:t>
            </a:r>
            <a:endParaRPr lang="en-US" sz="2200" dirty="0"/>
          </a:p>
        </p:txBody>
      </p:sp>
      <p:sp>
        <p:nvSpPr>
          <p:cNvPr id="13" name="Text 11"/>
          <p:cNvSpPr/>
          <p:nvPr/>
        </p:nvSpPr>
        <p:spPr>
          <a:xfrm>
            <a:off x="768096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Probability-weighted</a:t>
            </a:r>
            <a:endParaRPr lang="en-US" sz="1000" dirty="0"/>
          </a:p>
        </p:txBody>
      </p:sp>
      <p:sp>
        <p:nvSpPr>
          <p:cNvPr id="14" name="Shape 12"/>
          <p:cNvSpPr/>
          <p:nvPr/>
        </p:nvSpPr>
        <p:spPr>
          <a:xfrm>
            <a:off x="9784080" y="3108960"/>
            <a:ext cx="1920240" cy="1234440"/>
          </a:xfrm>
          <a:prstGeom prst="roundRect">
            <a:avLst>
              <a:gd name="adj" fmla="val 5926"/>
            </a:avLst>
          </a:prstGeom>
          <a:solidFill>
            <a:srgbClr val="FFFFFF"/>
          </a:solidFill>
          <a:ln w="12700">
            <a:solidFill>
              <a:srgbClr val="E6E8EB"/>
            </a:solidFill>
            <a:prstDash val="solid"/>
          </a:ln>
        </p:spPr>
      </p:sp>
      <p:sp>
        <p:nvSpPr>
          <p:cNvPr id="15" name="Text 13"/>
          <p:cNvSpPr/>
          <p:nvPr/>
        </p:nvSpPr>
        <p:spPr>
          <a:xfrm>
            <a:off x="978408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~9.1%</a:t>
            </a:r>
            <a:endParaRPr lang="en-US" sz="2200" dirty="0"/>
          </a:p>
        </p:txBody>
      </p:sp>
      <p:sp>
        <p:nvSpPr>
          <p:cNvPr id="16" name="Text 14"/>
          <p:cNvSpPr/>
          <p:nvPr/>
        </p:nvSpPr>
        <p:spPr>
          <a:xfrm>
            <a:off x="978408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Implied discount rate</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1D325C"/>
                </a:solidFill>
                <a:latin typeface="Calibri" pitchFamily="34" charset="0"/>
                <a:ea typeface="Calibri" pitchFamily="34" charset="-122"/>
                <a:cs typeface="Calibri" pitchFamily="34" charset="-120"/>
              </a:rPr>
              <a:t>5. Risk &amp; SWOT</a:t>
            </a:r>
            <a:endParaRPr lang="en-US" sz="2800" dirty="0"/>
          </a:p>
        </p:txBody>
      </p:sp>
      <p:sp>
        <p:nvSpPr>
          <p:cNvPr id="3" name="Text 1"/>
          <p:cNvSpPr/>
          <p:nvPr/>
        </p:nvSpPr>
        <p:spPr>
          <a:xfrm>
            <a:off x="457200" y="1097280"/>
            <a:ext cx="11247120" cy="548640"/>
          </a:xfrm>
          <a:prstGeom prst="rect">
            <a:avLst/>
          </a:prstGeom>
          <a:noFill/>
          <a:ln/>
        </p:spPr>
        <p:txBody>
          <a:bodyPr wrap="square" rtlCol="0" anchor="ctr">
            <a:normAutofit/>
          </a:bodyPr>
          <a:lstStyle/>
          <a:p>
            <a:pPr indent="0" marL="0">
              <a:buNone/>
            </a:pPr>
            <a:r>
              <a:rPr lang="en-US" sz="1500" i="1" dirty="0">
                <a:solidFill>
                  <a:srgbClr val="4A5468"/>
                </a:solidFill>
                <a:latin typeface="Calibri" pitchFamily="34" charset="0"/>
                <a:ea typeface="Calibri" pitchFamily="34" charset="-122"/>
                <a:cs typeface="Calibri" pitchFamily="34" charset="-120"/>
              </a:rPr>
              <a:t>One metric decides the thesis: if gross ROIC breaks 20% while FCF per share falls, META loses Transitional status and we cut to 5%.</a:t>
            </a:r>
            <a:endParaRPr lang="en-US" sz="1500" dirty="0"/>
          </a:p>
        </p:txBody>
      </p:sp>
      <p:sp>
        <p:nvSpPr>
          <p:cNvPr id="4" name="Text 2"/>
          <p:cNvSpPr/>
          <p:nvPr/>
        </p:nvSpPr>
        <p:spPr>
          <a:xfrm>
            <a:off x="457200" y="1691640"/>
            <a:ext cx="6949440" cy="4343400"/>
          </a:xfrm>
          <a:prstGeom prst="rect">
            <a:avLst/>
          </a:prstGeom>
          <a:noFill/>
          <a:ln/>
        </p:spPr>
        <p:txBody>
          <a:bodyPr wrap="square" rtlCol="0" anchor="t">
            <a:normAutofit/>
          </a:bodyPr>
          <a:lstStyle/>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Kill: gross ROIC below 20% plus falling FCF/share means 3/7 (43%), Disruptive Growth 5% cap, trim within 30 days</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Legal: $18bn AG settlement (about $10bn Q3 accrual); New Mexico seeks $35-40bn; FTC appeal; Feb 2027 MDL</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Capex: FY26 $130-145bn; 2027 consensus $192bn, Deutsche Bank $210-215bn; $349.3bn non-cancelable commitments</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Culture: Glassdoor 3.4, CEO approval 33%, 47% recommend; about 8,000 roles cut in May 2026</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Catalysts: disclosed AI revenue, 2027 capex at or below consensus, FoA margin at or above 40%, NM penalty near $3.45bn cap</a:t>
            </a:r>
            <a:endParaRPr lang="en-US" sz="1500" dirty="0"/>
          </a:p>
        </p:txBody>
      </p:sp>
      <p:sp>
        <p:nvSpPr>
          <p:cNvPr id="5" name="Shape 3"/>
          <p:cNvSpPr/>
          <p:nvPr/>
        </p:nvSpPr>
        <p:spPr>
          <a:xfrm>
            <a:off x="7680960" y="1691640"/>
            <a:ext cx="1920240" cy="1234440"/>
          </a:xfrm>
          <a:prstGeom prst="roundRect">
            <a:avLst>
              <a:gd name="adj" fmla="val 5926"/>
            </a:avLst>
          </a:prstGeom>
          <a:solidFill>
            <a:srgbClr val="FFFFFF"/>
          </a:solidFill>
          <a:ln w="12700">
            <a:solidFill>
              <a:srgbClr val="E6E8EB"/>
            </a:solidFill>
            <a:prstDash val="solid"/>
          </a:ln>
        </p:spPr>
      </p:sp>
      <p:sp>
        <p:nvSpPr>
          <p:cNvPr id="6" name="Text 4"/>
          <p:cNvSpPr/>
          <p:nvPr/>
        </p:nvSpPr>
        <p:spPr>
          <a:xfrm>
            <a:off x="768096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~$10bn</a:t>
            </a:r>
            <a:endParaRPr lang="en-US" sz="2200" dirty="0"/>
          </a:p>
        </p:txBody>
      </p:sp>
      <p:sp>
        <p:nvSpPr>
          <p:cNvPr id="7" name="Text 5"/>
          <p:cNvSpPr/>
          <p:nvPr/>
        </p:nvSpPr>
        <p:spPr>
          <a:xfrm>
            <a:off x="768096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Q3 legal accrual</a:t>
            </a:r>
            <a:endParaRPr lang="en-US" sz="1000" dirty="0"/>
          </a:p>
        </p:txBody>
      </p:sp>
      <p:sp>
        <p:nvSpPr>
          <p:cNvPr id="8" name="Shape 6"/>
          <p:cNvSpPr/>
          <p:nvPr/>
        </p:nvSpPr>
        <p:spPr>
          <a:xfrm>
            <a:off x="9784080" y="1691640"/>
            <a:ext cx="1920240" cy="1234440"/>
          </a:xfrm>
          <a:prstGeom prst="roundRect">
            <a:avLst>
              <a:gd name="adj" fmla="val 5926"/>
            </a:avLst>
          </a:prstGeom>
          <a:solidFill>
            <a:srgbClr val="FFFFFF"/>
          </a:solidFill>
          <a:ln w="12700">
            <a:solidFill>
              <a:srgbClr val="E6E8EB"/>
            </a:solidFill>
            <a:prstDash val="solid"/>
          </a:ln>
        </p:spPr>
      </p:sp>
      <p:sp>
        <p:nvSpPr>
          <p:cNvPr id="9" name="Text 7"/>
          <p:cNvSpPr/>
          <p:nvPr/>
        </p:nvSpPr>
        <p:spPr>
          <a:xfrm>
            <a:off x="978408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$192bn</a:t>
            </a:r>
            <a:endParaRPr lang="en-US" sz="2200" dirty="0"/>
          </a:p>
        </p:txBody>
      </p:sp>
      <p:sp>
        <p:nvSpPr>
          <p:cNvPr id="10" name="Text 8"/>
          <p:cNvSpPr/>
          <p:nvPr/>
        </p:nvSpPr>
        <p:spPr>
          <a:xfrm>
            <a:off x="978408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2027E capex (consensus)</a:t>
            </a:r>
            <a:endParaRPr lang="en-US" sz="1000" dirty="0"/>
          </a:p>
        </p:txBody>
      </p:sp>
      <p:sp>
        <p:nvSpPr>
          <p:cNvPr id="11" name="Shape 9"/>
          <p:cNvSpPr/>
          <p:nvPr/>
        </p:nvSpPr>
        <p:spPr>
          <a:xfrm>
            <a:off x="7680960" y="3108960"/>
            <a:ext cx="1920240" cy="1234440"/>
          </a:xfrm>
          <a:prstGeom prst="roundRect">
            <a:avLst>
              <a:gd name="adj" fmla="val 5926"/>
            </a:avLst>
          </a:prstGeom>
          <a:solidFill>
            <a:srgbClr val="FFFFFF"/>
          </a:solidFill>
          <a:ln w="12700">
            <a:solidFill>
              <a:srgbClr val="E6E8EB"/>
            </a:solidFill>
            <a:prstDash val="solid"/>
          </a:ln>
        </p:spPr>
      </p:sp>
      <p:sp>
        <p:nvSpPr>
          <p:cNvPr id="12" name="Text 10"/>
          <p:cNvSpPr/>
          <p:nvPr/>
        </p:nvSpPr>
        <p:spPr>
          <a:xfrm>
            <a:off x="768096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33%</a:t>
            </a:r>
            <a:endParaRPr lang="en-US" sz="2200" dirty="0"/>
          </a:p>
        </p:txBody>
      </p:sp>
      <p:sp>
        <p:nvSpPr>
          <p:cNvPr id="13" name="Text 11"/>
          <p:cNvSpPr/>
          <p:nvPr/>
        </p:nvSpPr>
        <p:spPr>
          <a:xfrm>
            <a:off x="768096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Glassdoor CEO approval</a:t>
            </a:r>
            <a:endParaRPr lang="en-US" sz="1000" dirty="0"/>
          </a:p>
        </p:txBody>
      </p:sp>
      <p:sp>
        <p:nvSpPr>
          <p:cNvPr id="14" name="Shape 12"/>
          <p:cNvSpPr/>
          <p:nvPr/>
        </p:nvSpPr>
        <p:spPr>
          <a:xfrm>
            <a:off x="9784080" y="3108960"/>
            <a:ext cx="1920240" cy="1234440"/>
          </a:xfrm>
          <a:prstGeom prst="roundRect">
            <a:avLst>
              <a:gd name="adj" fmla="val 5926"/>
            </a:avLst>
          </a:prstGeom>
          <a:solidFill>
            <a:srgbClr val="FFFFFF"/>
          </a:solidFill>
          <a:ln w="12700">
            <a:solidFill>
              <a:srgbClr val="E6E8EB"/>
            </a:solidFill>
            <a:prstDash val="solid"/>
          </a:ln>
        </p:spPr>
      </p:sp>
      <p:sp>
        <p:nvSpPr>
          <p:cNvPr id="15" name="Text 13"/>
          <p:cNvSpPr/>
          <p:nvPr/>
        </p:nvSpPr>
        <p:spPr>
          <a:xfrm>
            <a:off x="978408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0 thresholds</a:t>
            </a:r>
            <a:endParaRPr lang="en-US" sz="2200" dirty="0"/>
          </a:p>
        </p:txBody>
      </p:sp>
      <p:sp>
        <p:nvSpPr>
          <p:cNvPr id="16" name="Text 14"/>
          <p:cNvSpPr/>
          <p:nvPr/>
        </p:nvSpPr>
        <p:spPr>
          <a:xfrm>
            <a:off x="978408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Quality-floor buffer</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normAutofit/>
          </a:bodyPr>
          <a:lstStyle/>
          <a:p>
            <a:pPr indent="0" marL="0">
              <a:buNone/>
            </a:pPr>
            <a:r>
              <a:rPr lang="en-US" sz="2800" b="1" dirty="0">
                <a:solidFill>
                  <a:srgbClr val="1D325C"/>
                </a:solidFill>
                <a:latin typeface="Calibri" pitchFamily="34" charset="0"/>
                <a:ea typeface="Calibri" pitchFamily="34" charset="-122"/>
                <a:cs typeface="Calibri" pitchFamily="34" charset="-120"/>
              </a:rPr>
              <a:t>6. Conclusion</a:t>
            </a:r>
            <a:endParaRPr lang="en-US" sz="2800" dirty="0"/>
          </a:p>
        </p:txBody>
      </p:sp>
      <p:sp>
        <p:nvSpPr>
          <p:cNvPr id="3" name="Text 1"/>
          <p:cNvSpPr/>
          <p:nvPr/>
        </p:nvSpPr>
        <p:spPr>
          <a:xfrm>
            <a:off x="457200" y="1097280"/>
            <a:ext cx="11247120" cy="548640"/>
          </a:xfrm>
          <a:prstGeom prst="rect">
            <a:avLst/>
          </a:prstGeom>
          <a:noFill/>
          <a:ln/>
        </p:spPr>
        <p:txBody>
          <a:bodyPr wrap="square" rtlCol="0" anchor="ctr">
            <a:normAutofit/>
          </a:bodyPr>
          <a:lstStyle/>
          <a:p>
            <a:pPr indent="0" marL="0">
              <a:buNone/>
            </a:pPr>
            <a:r>
              <a:rPr lang="en-US" sz="1500" i="1" dirty="0">
                <a:solidFill>
                  <a:srgbClr val="4A5468"/>
                </a:solidFill>
                <a:latin typeface="Calibri" pitchFamily="34" charset="0"/>
                <a:ea typeface="Calibri" pitchFamily="34" charset="-122"/>
                <a:cs typeface="Calibri" pitchFamily="34" charset="-120"/>
              </a:rPr>
              <a:t>A great franchise at the wrong price: hold the position, and earn the significant bet at $600, not $721.</a:t>
            </a:r>
            <a:endParaRPr lang="en-US" sz="1500" dirty="0"/>
          </a:p>
        </p:txBody>
      </p:sp>
      <p:sp>
        <p:nvSpPr>
          <p:cNvPr id="4" name="Text 2"/>
          <p:cNvSpPr/>
          <p:nvPr/>
        </p:nvSpPr>
        <p:spPr>
          <a:xfrm>
            <a:off x="457200" y="1691640"/>
            <a:ext cx="6949440" cy="4343400"/>
          </a:xfrm>
          <a:prstGeom prst="rect">
            <a:avLst/>
          </a:prstGeom>
          <a:noFill/>
          <a:ln/>
        </p:spPr>
        <p:txBody>
          <a:bodyPr wrap="square" rtlCol="0" anchor="t">
            <a:normAutofit/>
          </a:bodyPr>
          <a:lstStyle/>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HOLD: maintain the Transitional classification and the existing position; no accelerated buying; measured DCA only</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Add at or below about $600, or on Section 0 panic: VIX above 30, or a sharp drop on a quantified one-off (Q3 accrual)</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Asymmetry at $721.31: +42% bull vs -63% bear; base -21%; probability-weighted about -16%</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Upgrade if FoA op margin is at or above 40%, incremental ROIC nears 20%, AI revenue is disclosed, 2027 capex is at or below consensus</a:t>
            </a:r>
            <a:endParaRPr lang="en-US" sz="1500" dirty="0"/>
          </a:p>
          <a:p>
            <a:pPr marL="228600" indent="-228600">
              <a:spcAft>
                <a:spcPts val="800"/>
              </a:spcAft>
              <a:buSzPct val="100000"/>
              <a:buChar char="•"/>
            </a:pPr>
            <a:r>
              <a:rPr lang="en-US" sz="1500" dirty="0">
                <a:solidFill>
                  <a:srgbClr val="1D325C"/>
                </a:solidFill>
                <a:latin typeface="Calibri" pitchFamily="34" charset="0"/>
                <a:ea typeface="Calibri" pitchFamily="34" charset="-122"/>
                <a:cs typeface="Calibri" pitchFamily="34" charset="-120"/>
              </a:rPr>
              <a:t>Re-run the Classification Test immediately after the Q3 10-Q; the floor has zero buffer</a:t>
            </a:r>
            <a:endParaRPr lang="en-US" sz="1500" dirty="0"/>
          </a:p>
        </p:txBody>
      </p:sp>
      <p:sp>
        <p:nvSpPr>
          <p:cNvPr id="5" name="Shape 3"/>
          <p:cNvSpPr/>
          <p:nvPr/>
        </p:nvSpPr>
        <p:spPr>
          <a:xfrm>
            <a:off x="7680960" y="1691640"/>
            <a:ext cx="1920240" cy="1234440"/>
          </a:xfrm>
          <a:prstGeom prst="roundRect">
            <a:avLst>
              <a:gd name="adj" fmla="val 5926"/>
            </a:avLst>
          </a:prstGeom>
          <a:solidFill>
            <a:srgbClr val="FFFFFF"/>
          </a:solidFill>
          <a:ln w="12700">
            <a:solidFill>
              <a:srgbClr val="E6E8EB"/>
            </a:solidFill>
            <a:prstDash val="solid"/>
          </a:ln>
        </p:spPr>
      </p:sp>
      <p:sp>
        <p:nvSpPr>
          <p:cNvPr id="6" name="Text 4"/>
          <p:cNvSpPr/>
          <p:nvPr/>
        </p:nvSpPr>
        <p:spPr>
          <a:xfrm>
            <a:off x="768096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+42%</a:t>
            </a:r>
            <a:endParaRPr lang="en-US" sz="2200" dirty="0"/>
          </a:p>
        </p:txBody>
      </p:sp>
      <p:sp>
        <p:nvSpPr>
          <p:cNvPr id="7" name="Text 5"/>
          <p:cNvSpPr/>
          <p:nvPr/>
        </p:nvSpPr>
        <p:spPr>
          <a:xfrm>
            <a:off x="768096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Upside (optimistic)</a:t>
            </a:r>
            <a:endParaRPr lang="en-US" sz="1000" dirty="0"/>
          </a:p>
        </p:txBody>
      </p:sp>
      <p:sp>
        <p:nvSpPr>
          <p:cNvPr id="8" name="Shape 6"/>
          <p:cNvSpPr/>
          <p:nvPr/>
        </p:nvSpPr>
        <p:spPr>
          <a:xfrm>
            <a:off x="9784080" y="1691640"/>
            <a:ext cx="1920240" cy="1234440"/>
          </a:xfrm>
          <a:prstGeom prst="roundRect">
            <a:avLst>
              <a:gd name="adj" fmla="val 5926"/>
            </a:avLst>
          </a:prstGeom>
          <a:solidFill>
            <a:srgbClr val="FFFFFF"/>
          </a:solidFill>
          <a:ln w="12700">
            <a:solidFill>
              <a:srgbClr val="E6E8EB"/>
            </a:solidFill>
            <a:prstDash val="solid"/>
          </a:ln>
        </p:spPr>
      </p:sp>
      <p:sp>
        <p:nvSpPr>
          <p:cNvPr id="9" name="Text 7"/>
          <p:cNvSpPr/>
          <p:nvPr/>
        </p:nvSpPr>
        <p:spPr>
          <a:xfrm>
            <a:off x="9784080" y="178308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-63%</a:t>
            </a:r>
            <a:endParaRPr lang="en-US" sz="2200" dirty="0"/>
          </a:p>
        </p:txBody>
      </p:sp>
      <p:sp>
        <p:nvSpPr>
          <p:cNvPr id="10" name="Text 8"/>
          <p:cNvSpPr/>
          <p:nvPr/>
        </p:nvSpPr>
        <p:spPr>
          <a:xfrm>
            <a:off x="9784080" y="242316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Downside (conservative)</a:t>
            </a:r>
            <a:endParaRPr lang="en-US" sz="1000" dirty="0"/>
          </a:p>
        </p:txBody>
      </p:sp>
      <p:sp>
        <p:nvSpPr>
          <p:cNvPr id="11" name="Shape 9"/>
          <p:cNvSpPr/>
          <p:nvPr/>
        </p:nvSpPr>
        <p:spPr>
          <a:xfrm>
            <a:off x="7680960" y="3108960"/>
            <a:ext cx="1920240" cy="1234440"/>
          </a:xfrm>
          <a:prstGeom prst="roundRect">
            <a:avLst>
              <a:gd name="adj" fmla="val 5926"/>
            </a:avLst>
          </a:prstGeom>
          <a:solidFill>
            <a:srgbClr val="FFFFFF"/>
          </a:solidFill>
          <a:ln w="12700">
            <a:solidFill>
              <a:srgbClr val="E6E8EB"/>
            </a:solidFill>
            <a:prstDash val="solid"/>
          </a:ln>
        </p:spPr>
      </p:sp>
      <p:sp>
        <p:nvSpPr>
          <p:cNvPr id="12" name="Text 10"/>
          <p:cNvSpPr/>
          <p:nvPr/>
        </p:nvSpPr>
        <p:spPr>
          <a:xfrm>
            <a:off x="768096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~-16%</a:t>
            </a:r>
            <a:endParaRPr lang="en-US" sz="2200" dirty="0"/>
          </a:p>
        </p:txBody>
      </p:sp>
      <p:sp>
        <p:nvSpPr>
          <p:cNvPr id="13" name="Text 11"/>
          <p:cNvSpPr/>
          <p:nvPr/>
        </p:nvSpPr>
        <p:spPr>
          <a:xfrm>
            <a:off x="768096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Expected value</a:t>
            </a:r>
            <a:endParaRPr lang="en-US" sz="1000" dirty="0"/>
          </a:p>
        </p:txBody>
      </p:sp>
      <p:sp>
        <p:nvSpPr>
          <p:cNvPr id="14" name="Shape 12"/>
          <p:cNvSpPr/>
          <p:nvPr/>
        </p:nvSpPr>
        <p:spPr>
          <a:xfrm>
            <a:off x="9784080" y="3108960"/>
            <a:ext cx="1920240" cy="1234440"/>
          </a:xfrm>
          <a:prstGeom prst="roundRect">
            <a:avLst>
              <a:gd name="adj" fmla="val 5926"/>
            </a:avLst>
          </a:prstGeom>
          <a:solidFill>
            <a:srgbClr val="FFFFFF"/>
          </a:solidFill>
          <a:ln w="12700">
            <a:solidFill>
              <a:srgbClr val="E6E8EB"/>
            </a:solidFill>
            <a:prstDash val="solid"/>
          </a:ln>
        </p:spPr>
      </p:sp>
      <p:sp>
        <p:nvSpPr>
          <p:cNvPr id="15" name="Text 13"/>
          <p:cNvSpPr/>
          <p:nvPr/>
        </p:nvSpPr>
        <p:spPr>
          <a:xfrm>
            <a:off x="9784080" y="3200400"/>
            <a:ext cx="1920240" cy="640080"/>
          </a:xfrm>
          <a:prstGeom prst="rect">
            <a:avLst/>
          </a:prstGeom>
          <a:noFill/>
          <a:ln/>
        </p:spPr>
        <p:txBody>
          <a:bodyPr wrap="square" rtlCol="0" anchor="ctr">
            <a:normAutofit/>
          </a:bodyPr>
          <a:lstStyle/>
          <a:p>
            <a:pPr algn="ctr" indent="0" marL="0">
              <a:buNone/>
            </a:pPr>
            <a:r>
              <a:rPr lang="en-US" sz="2200" b="1" dirty="0">
                <a:solidFill>
                  <a:srgbClr val="1D325C"/>
                </a:solidFill>
                <a:latin typeface="Calibri" pitchFamily="34" charset="0"/>
                <a:ea typeface="Calibri" pitchFamily="34" charset="-122"/>
                <a:cs typeface="Calibri" pitchFamily="34" charset="-120"/>
              </a:rPr>
              <a:t>≤ ~$600</a:t>
            </a:r>
            <a:endParaRPr lang="en-US" sz="2200" dirty="0"/>
          </a:p>
        </p:txBody>
      </p:sp>
      <p:sp>
        <p:nvSpPr>
          <p:cNvPr id="16" name="Text 14"/>
          <p:cNvSpPr/>
          <p:nvPr/>
        </p:nvSpPr>
        <p:spPr>
          <a:xfrm>
            <a:off x="9784080" y="3840480"/>
            <a:ext cx="1920240" cy="457200"/>
          </a:xfrm>
          <a:prstGeom prst="rect">
            <a:avLst/>
          </a:prstGeom>
          <a:noFill/>
          <a:ln/>
        </p:spPr>
        <p:txBody>
          <a:bodyPr wrap="square" rtlCol="0" anchor="ctr">
            <a:normAutofit/>
          </a:bodyPr>
          <a:lstStyle/>
          <a:p>
            <a:pPr algn="ctr" indent="0" marL="0">
              <a:buNone/>
            </a:pPr>
            <a:r>
              <a:rPr lang="en-US" sz="1000" dirty="0">
                <a:solidFill>
                  <a:srgbClr val="5A6478"/>
                </a:solidFill>
                <a:latin typeface="Calibri" pitchFamily="34" charset="0"/>
                <a:ea typeface="Calibri" pitchFamily="34" charset="-122"/>
                <a:cs typeface="Calibri" pitchFamily="34" charset="-120"/>
              </a:rPr>
              <a:t>Add zone</a:t>
            </a:r>
            <a:endParaRPr lang="en-US" sz="10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lstStyle/>
          <a:p>
            <a:pPr indent="0" marL="0">
              <a:buNone/>
            </a:pPr>
            <a:r>
              <a:rPr lang="en-US" sz="2800" b="1" dirty="0">
                <a:solidFill>
                  <a:srgbClr val="1D325C"/>
                </a:solidFill>
                <a:latin typeface="Calibri" pitchFamily="34" charset="0"/>
                <a:ea typeface="Calibri" pitchFamily="34" charset="-122"/>
                <a:cs typeface="Calibri" pitchFamily="34" charset="-120"/>
              </a:rPr>
              <a:t>The Bottom Line</a:t>
            </a:r>
            <a:endParaRPr lang="en-US" sz="2800" dirty="0"/>
          </a:p>
        </p:txBody>
      </p:sp>
      <p:sp>
        <p:nvSpPr>
          <p:cNvPr id="3" name="Shape 1"/>
          <p:cNvSpPr/>
          <p:nvPr/>
        </p:nvSpPr>
        <p:spPr>
          <a:xfrm>
            <a:off x="457200" y="1188720"/>
            <a:ext cx="3108960" cy="640080"/>
          </a:xfrm>
          <a:prstGeom prst="roundRect">
            <a:avLst>
              <a:gd name="adj" fmla="val 14286"/>
            </a:avLst>
          </a:prstGeom>
          <a:solidFill>
            <a:srgbClr val="FFC107"/>
          </a:solidFill>
          <a:ln w="12700">
            <a:solidFill>
              <a:srgbClr val="FFC107"/>
            </a:solidFill>
            <a:prstDash val="solid"/>
          </a:ln>
        </p:spPr>
      </p:sp>
      <p:sp>
        <p:nvSpPr>
          <p:cNvPr id="4" name="Text 2"/>
          <p:cNvSpPr/>
          <p:nvPr/>
        </p:nvSpPr>
        <p:spPr>
          <a:xfrm>
            <a:off x="457200" y="1188720"/>
            <a:ext cx="310896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Hold</a:t>
            </a:r>
            <a:endParaRPr lang="en-US" sz="2000" dirty="0"/>
          </a:p>
        </p:txBody>
      </p:sp>
      <p:sp>
        <p:nvSpPr>
          <p:cNvPr id="5" name="Text 3"/>
          <p:cNvSpPr/>
          <p:nvPr/>
        </p:nvSpPr>
        <p:spPr>
          <a:xfrm>
            <a:off x="3749040" y="1188720"/>
            <a:ext cx="7955280" cy="640080"/>
          </a:xfrm>
          <a:prstGeom prst="rect">
            <a:avLst/>
          </a:prstGeom>
          <a:noFill/>
          <a:ln/>
        </p:spPr>
        <p:txBody>
          <a:bodyPr wrap="square" rtlCol="0" anchor="ctr"/>
          <a:lstStyle/>
          <a:p>
            <a:pPr indent="0" marL="0">
              <a:buNone/>
            </a:pPr>
            <a:r>
              <a:rPr lang="en-US" sz="1500" dirty="0">
                <a:solidFill>
                  <a:srgbClr val="4A5468"/>
                </a:solidFill>
                <a:latin typeface="Calibri" pitchFamily="34" charset="0"/>
                <a:ea typeface="Calibri" pitchFamily="34" charset="-122"/>
                <a:cs typeface="Calibri" pitchFamily="34" charset="-120"/>
              </a:rPr>
              <a:t>Transitional Holding  ·  Next checkpoint: Q3 print on 28 Oct 2026, followed by an immediate Classification Test re-run. 12 months for the 2027 capex guide and the legal resolution. The margin and ROIC inflection is a 2028+ story within the 3-7 year Transitional window.</a:t>
            </a:r>
            <a:endParaRPr lang="en-US" sz="1500" dirty="0"/>
          </a:p>
        </p:txBody>
      </p:sp>
      <p:sp>
        <p:nvSpPr>
          <p:cNvPr id="6" name="Text 4"/>
          <p:cNvSpPr/>
          <p:nvPr/>
        </p:nvSpPr>
        <p:spPr>
          <a:xfrm>
            <a:off x="457200" y="2103120"/>
            <a:ext cx="11247120" cy="1463040"/>
          </a:xfrm>
          <a:prstGeom prst="rect">
            <a:avLst/>
          </a:prstGeom>
          <a:noFill/>
          <a:ln/>
        </p:spPr>
        <p:txBody>
          <a:bodyPr wrap="square" rtlCol="0" anchor="t">
            <a:normAutofit/>
          </a:bodyPr>
          <a:lstStyle/>
          <a:p>
            <a:pPr indent="0" marL="0">
              <a:buNone/>
            </a:pPr>
            <a:r>
              <a:rPr lang="en-US" sz="1700" dirty="0">
                <a:solidFill>
                  <a:srgbClr val="1D325C"/>
                </a:solidFill>
                <a:latin typeface="Calibri" pitchFamily="34" charset="0"/>
                <a:ea typeface="Calibri" pitchFamily="34" charset="-122"/>
                <a:cs typeface="Calibri" pitchFamily="34" charset="-120"/>
              </a:rPr>
              <a:t>Hold META at $721.31. The AI capex is visibly lifting revenue (+28%; price per ad +12% vs CPI 3.4%) but not yet margins or ROIC (incremental about 11%). Base DCF is $566. The asymmetry is unfavourable: +42% upside vs -63% downside, about -16% probability-weighted. Keep the Transitional position, DCA at a measured pace, and concentrate adds at or below $600.</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3657600"/>
          <a:ext cx="6858000" cy="914400"/>
        </p:xfrm>
        <a:graphic>
          <a:graphicData uri="http://schemas.openxmlformats.org/drawingml/2006/table">
            <a:tbl>
              <a:tblPr/>
              <a:tblGrid>
                <a:gridCol w="1463040"/>
                <a:gridCol w="1828800"/>
                <a:gridCol w="1737360"/>
                <a:gridCol w="1828800"/>
              </a:tblGrid>
              <a:tr h="0">
                <a:tc>
                  <a:txBody>
                    <a:bodyPr/>
                    <a:lstStyle/>
                    <a:p>
                      <a:pPr algn="ctr" indent="0" marL="0">
                        <a:buNone/>
                      </a:pPr>
                      <a:r>
                        <a:rPr lang="en-US" sz="1300" b="1" dirty="0">
                          <a:solidFill>
                            <a:srgbClr val="1D325C"/>
                          </a:solidFill>
                          <a:latin typeface="Calibri" pitchFamily="34" charset="0"/>
                          <a:ea typeface="Calibri" pitchFamily="34" charset="-122"/>
                          <a:cs typeface="Calibri" pitchFamily="34" charset="-120"/>
                        </a:rPr>
                        <a:t>Price</a:t>
                      </a:r>
                      <a:endParaRPr lang="en-US" sz="1300" dirty="0">
                        <a:latin typeface="Calibri" charset="0"/>
                        <a:ea typeface="Calibri" charset="0"/>
                        <a:cs typeface="Calibri" charset="0"/>
                      </a:endParaRPr>
                    </a:p>
                  </a:txBody>
                  <a:tcPr marL="91440" marR="91440" marT="45720" marB="4572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E6E8EB"/>
                    </a:solidFill>
                  </a:tcPr>
                </a:tc>
                <a:tc>
                  <a:txBody>
                    <a:bodyPr/>
                    <a:lstStyle/>
                    <a:p>
                      <a:pPr algn="ctr" indent="0" marL="0">
                        <a:buNone/>
                      </a:pPr>
                      <a:r>
                        <a:rPr lang="en-US" sz="1300" b="1" dirty="0">
                          <a:solidFill>
                            <a:srgbClr val="1D325C"/>
                          </a:solidFill>
                          <a:latin typeface="Calibri" pitchFamily="34" charset="0"/>
                          <a:ea typeface="Calibri" pitchFamily="34" charset="-122"/>
                          <a:cs typeface="Calibri" pitchFamily="34" charset="-120"/>
                        </a:rPr>
                        <a:t>Conservative</a:t>
                      </a:r>
                      <a:endParaRPr lang="en-US" sz="1300" dirty="0">
                        <a:latin typeface="Calibri" charset="0"/>
                        <a:ea typeface="Calibri" charset="0"/>
                        <a:cs typeface="Calibri" charset="0"/>
                      </a:endParaRPr>
                    </a:p>
                  </a:txBody>
                  <a:tcPr marL="91440" marR="91440" marT="45720" marB="4572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E6E8EB"/>
                    </a:solidFill>
                  </a:tcPr>
                </a:tc>
                <a:tc>
                  <a:txBody>
                    <a:bodyPr/>
                    <a:lstStyle/>
                    <a:p>
                      <a:pPr algn="ctr" indent="0" marL="0">
                        <a:buNone/>
                      </a:pPr>
                      <a:r>
                        <a:rPr lang="en-US" sz="1300" b="1" dirty="0">
                          <a:solidFill>
                            <a:srgbClr val="1D325C"/>
                          </a:solidFill>
                          <a:latin typeface="Calibri" pitchFamily="34" charset="0"/>
                          <a:ea typeface="Calibri" pitchFamily="34" charset="-122"/>
                          <a:cs typeface="Calibri" pitchFamily="34" charset="-120"/>
                        </a:rPr>
                        <a:t>Base</a:t>
                      </a:r>
                      <a:endParaRPr lang="en-US" sz="1300" dirty="0">
                        <a:latin typeface="Calibri" charset="0"/>
                        <a:ea typeface="Calibri" charset="0"/>
                        <a:cs typeface="Calibri" charset="0"/>
                      </a:endParaRPr>
                    </a:p>
                  </a:txBody>
                  <a:tcPr marL="91440" marR="91440" marT="45720" marB="4572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E6E8EB"/>
                    </a:solidFill>
                  </a:tcPr>
                </a:tc>
                <a:tc>
                  <a:txBody>
                    <a:bodyPr/>
                    <a:lstStyle/>
                    <a:p>
                      <a:pPr algn="ctr" indent="0" marL="0">
                        <a:buNone/>
                      </a:pPr>
                      <a:r>
                        <a:rPr lang="en-US" sz="1300" b="1" dirty="0">
                          <a:solidFill>
                            <a:srgbClr val="1D325C"/>
                          </a:solidFill>
                          <a:latin typeface="Calibri" pitchFamily="34" charset="0"/>
                          <a:ea typeface="Calibri" pitchFamily="34" charset="-122"/>
                          <a:cs typeface="Calibri" pitchFamily="34" charset="-120"/>
                        </a:rPr>
                        <a:t>Optimistic</a:t>
                      </a:r>
                      <a:endParaRPr lang="en-US" sz="1300" dirty="0">
                        <a:latin typeface="Calibri" charset="0"/>
                        <a:ea typeface="Calibri" charset="0"/>
                        <a:cs typeface="Calibri" charset="0"/>
                      </a:endParaRPr>
                    </a:p>
                  </a:txBody>
                  <a:tcPr marL="91440" marR="91440" marT="45720" marB="4572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solidFill>
                      <a:srgbClr val="E6E8EB"/>
                    </a:solidFill>
                  </a:tcPr>
                </a:tc>
              </a:tr>
              <a:tr h="0">
                <a:tc>
                  <a:txBody>
                    <a:bodyPr/>
                    <a:lstStyle/>
                    <a:p>
                      <a:pPr algn="ctr" indent="0" marL="0">
                        <a:buNone/>
                      </a:pPr>
                      <a:r>
                        <a:rPr lang="en-US" sz="1300" dirty="0">
                          <a:solidFill>
                            <a:srgbClr val="1D325C"/>
                          </a:solidFill>
                          <a:latin typeface="Calibri" pitchFamily="34" charset="0"/>
                          <a:ea typeface="Calibri" pitchFamily="34" charset="-122"/>
                          <a:cs typeface="Calibri" pitchFamily="34" charset="-120"/>
                        </a:rPr>
                        <a:t>$721.31 (close, 7 Oct 2026)</a:t>
                      </a:r>
                      <a:endParaRPr lang="en-US" sz="1300" dirty="0">
                        <a:latin typeface="Calibri" charset="0"/>
                        <a:ea typeface="Calibri" charset="0"/>
                        <a:cs typeface="Calibri" charset="0"/>
                      </a:endParaRPr>
                    </a:p>
                  </a:txBody>
                  <a:tcPr marL="91440" marR="91440" marT="45720" marB="4572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tcPr>
                </a:tc>
                <a:tc>
                  <a:txBody>
                    <a:bodyPr/>
                    <a:lstStyle/>
                    <a:p>
                      <a:pPr algn="ctr" indent="0" marL="0">
                        <a:buNone/>
                      </a:pPr>
                      <a:r>
                        <a:rPr lang="en-US" sz="1300" dirty="0">
                          <a:solidFill>
                            <a:srgbClr val="1D325C"/>
                          </a:solidFill>
                          <a:latin typeface="Calibri" pitchFamily="34" charset="0"/>
                          <a:ea typeface="Calibri" pitchFamily="34" charset="-122"/>
                          <a:cs typeface="Calibri" pitchFamily="34" charset="-120"/>
                        </a:rPr>
                        <a:t>$267 (-63%)</a:t>
                      </a:r>
                      <a:endParaRPr lang="en-US" sz="1300" dirty="0">
                        <a:latin typeface="Calibri" charset="0"/>
                        <a:ea typeface="Calibri" charset="0"/>
                        <a:cs typeface="Calibri" charset="0"/>
                      </a:endParaRPr>
                    </a:p>
                  </a:txBody>
                  <a:tcPr marL="91440" marR="91440" marT="45720" marB="4572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tcPr>
                </a:tc>
                <a:tc>
                  <a:txBody>
                    <a:bodyPr/>
                    <a:lstStyle/>
                    <a:p>
                      <a:pPr algn="ctr" indent="0" marL="0">
                        <a:buNone/>
                      </a:pPr>
                      <a:r>
                        <a:rPr lang="en-US" sz="1300" dirty="0">
                          <a:solidFill>
                            <a:srgbClr val="1D325C"/>
                          </a:solidFill>
                          <a:latin typeface="Calibri" pitchFamily="34" charset="0"/>
                          <a:ea typeface="Calibri" pitchFamily="34" charset="-122"/>
                          <a:cs typeface="Calibri" pitchFamily="34" charset="-120"/>
                        </a:rPr>
                        <a:t>$566 (-21%)</a:t>
                      </a:r>
                      <a:endParaRPr lang="en-US" sz="1300" dirty="0">
                        <a:latin typeface="Calibri" charset="0"/>
                        <a:ea typeface="Calibri" charset="0"/>
                        <a:cs typeface="Calibri" charset="0"/>
                      </a:endParaRPr>
                    </a:p>
                  </a:txBody>
                  <a:tcPr marL="91440" marR="91440" marT="45720" marB="4572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tcPr>
                </a:tc>
                <a:tc>
                  <a:txBody>
                    <a:bodyPr/>
                    <a:lstStyle/>
                    <a:p>
                      <a:pPr algn="ctr" indent="0" marL="0">
                        <a:buNone/>
                      </a:pPr>
                      <a:r>
                        <a:rPr lang="en-US" sz="1300" dirty="0">
                          <a:solidFill>
                            <a:srgbClr val="1D325C"/>
                          </a:solidFill>
                          <a:latin typeface="Calibri" pitchFamily="34" charset="0"/>
                          <a:ea typeface="Calibri" pitchFamily="34" charset="-122"/>
                          <a:cs typeface="Calibri" pitchFamily="34" charset="-120"/>
                        </a:rPr>
                        <a:t>$1,026 (+42%)</a:t>
                      </a:r>
                      <a:endParaRPr lang="en-US" sz="1300" dirty="0">
                        <a:latin typeface="Calibri" charset="0"/>
                        <a:ea typeface="Calibri" charset="0"/>
                        <a:cs typeface="Calibri" charset="0"/>
                      </a:endParaRPr>
                    </a:p>
                  </a:txBody>
                  <a:tcPr marL="91440" marR="91440" marT="45720" marB="45720">
                    <a:lnL w="12700" cap="flat" cmpd="sng" algn="ctr">
                      <a:solidFill>
                        <a:srgbClr val="DCDCDC"/>
                      </a:solidFill>
                      <a:prstDash val="solid"/>
                      <a:round/>
                      <a:headEnd type="none" w="med" len="med"/>
                      <a:tailEnd type="none" w="med" len="med"/>
                    </a:lnL>
                    <a:lnR w="12700" cap="flat" cmpd="sng" algn="ctr">
                      <a:solidFill>
                        <a:srgbClr val="DCDCDC"/>
                      </a:solidFill>
                      <a:prstDash val="solid"/>
                      <a:round/>
                      <a:headEnd type="none" w="med" len="med"/>
                      <a:tailEnd type="none" w="med" len="med"/>
                    </a:lnR>
                    <a:lnT w="12700" cap="flat" cmpd="sng" algn="ctr">
                      <a:solidFill>
                        <a:srgbClr val="DCDCDC"/>
                      </a:solidFill>
                      <a:prstDash val="solid"/>
                      <a:round/>
                      <a:headEnd type="none" w="med" len="med"/>
                      <a:tailEnd type="none" w="med" len="med"/>
                    </a:lnT>
                    <a:lnB w="12700" cap="flat" cmpd="sng" algn="ctr">
                      <a:solidFill>
                        <a:srgbClr val="DCDCDC"/>
                      </a:solidFill>
                      <a:prstDash val="solid"/>
                      <a:round/>
                      <a:headEnd type="none" w="med" len="med"/>
                      <a:tailEnd type="none" w="med" len="med"/>
                    </a:lnB>
                  </a:tcPr>
                </a:tc>
              </a:tr>
            </a:tbl>
          </a:graphicData>
        </a:graphic>
      </p:graphicFrame>
      <p:sp>
        <p:nvSpPr>
          <p:cNvPr id="8" name="Text 5"/>
          <p:cNvSpPr/>
          <p:nvPr/>
        </p:nvSpPr>
        <p:spPr>
          <a:xfrm>
            <a:off x="457200" y="4663440"/>
            <a:ext cx="11247120" cy="457200"/>
          </a:xfrm>
          <a:prstGeom prst="rect">
            <a:avLst/>
          </a:prstGeom>
          <a:noFill/>
          <a:ln/>
        </p:spPr>
        <p:txBody>
          <a:bodyPr wrap="square" rtlCol="0" anchor="ctr">
            <a:normAutofit/>
          </a:bodyPr>
          <a:lstStyle/>
          <a:p>
            <a:pPr indent="0" marL="0">
              <a:buNone/>
            </a:pPr>
            <a:r>
              <a:rPr lang="en-US" sz="1200" dirty="0">
                <a:solidFill>
                  <a:srgbClr val="4A5468"/>
                </a:solidFill>
                <a:latin typeface="Calibri" pitchFamily="34" charset="0"/>
                <a:ea typeface="Calibri" pitchFamily="34" charset="-122"/>
                <a:cs typeface="Calibri" pitchFamily="34" charset="-120"/>
              </a:rPr>
              <a:t>T1: event-study OLS (HC3) of CAR[0,+1] on the YoY change in capex intensity, controlling for revenue acceleration and EPS surprise (market model: SPY plus orthogonalised sector factor). Supported by T2 drift, T3 Welch, T4a/b transmission and T5 regime tests.: z = -0.51 (beta = -0.082% CAR per pp); model F = 0.57  ·  p = 0.608 (model F p = 0.635); T2 p = 0.478, T3 p = 0.969, T4a p = 0.289, T4b p = 0.942  ·  not significant at α = 0.05  ·  45 earnings events, Jul 2015 - Jul 2026 (46 events overall, Apr 2015 - Jul 2026; only 7 in the AI-capex era)</a:t>
            </a:r>
            <a:endParaRPr lang="en-US" sz="1200" dirty="0"/>
          </a:p>
        </p:txBody>
      </p:sp>
      <p:sp>
        <p:nvSpPr>
          <p:cNvPr id="9" name="Shape 6"/>
          <p:cNvSpPr/>
          <p:nvPr/>
        </p:nvSpPr>
        <p:spPr>
          <a:xfrm>
            <a:off x="457200" y="5212080"/>
            <a:ext cx="11247120" cy="914400"/>
          </a:xfrm>
          <a:prstGeom prst="roundRect">
            <a:avLst>
              <a:gd name="adj" fmla="val 8000"/>
            </a:avLst>
          </a:prstGeom>
          <a:solidFill>
            <a:srgbClr val="FFF7E6"/>
          </a:solidFill>
          <a:ln w="12700">
            <a:solidFill>
              <a:srgbClr val="F0D89A"/>
            </a:solidFill>
            <a:prstDash val="solid"/>
          </a:ln>
        </p:spPr>
      </p:sp>
      <p:sp>
        <p:nvSpPr>
          <p:cNvPr id="10" name="Text 7"/>
          <p:cNvSpPr/>
          <p:nvPr/>
        </p:nvSpPr>
        <p:spPr>
          <a:xfrm>
            <a:off x="640080" y="5257800"/>
            <a:ext cx="10881360" cy="822960"/>
          </a:xfrm>
          <a:prstGeom prst="rect">
            <a:avLst/>
          </a:prstGeom>
          <a:noFill/>
          <a:ln/>
        </p:spPr>
        <p:txBody>
          <a:bodyPr wrap="square" rtlCol="0" anchor="ctr">
            <a:normAutofit/>
          </a:bodyPr>
          <a:lstStyle/>
          <a:p>
            <a:pPr indent="0" marL="0">
              <a:buNone/>
            </a:pPr>
            <a:r>
              <a:rPr lang="en-US" sz="1300" b="1" dirty="0">
                <a:solidFill>
                  <a:srgbClr val="1D325C"/>
                </a:solidFill>
                <a:latin typeface="Calibri" pitchFamily="34" charset="0"/>
                <a:ea typeface="Calibri" pitchFamily="34" charset="-122"/>
                <a:cs typeface="Calibri" pitchFamily="34" charset="-120"/>
              </a:rPr>
              <a:t>Kill signal: </a:t>
            </a:r>
            <a:pPr indent="0" marL="0">
              <a:buNone/>
            </a:pPr>
            <a:r>
              <a:rPr lang="en-US" sz="1300" dirty="0">
                <a:solidFill>
                  <a:srgbClr val="1D325C"/>
                </a:solidFill>
                <a:latin typeface="Calibri" pitchFamily="34" charset="0"/>
                <a:ea typeface="Calibri" pitchFamily="34" charset="-122"/>
                <a:cs typeface="Calibri" pitchFamily="34" charset="-120"/>
              </a:rPr>
              <a:t>At the next Classification Test re-run (immediately after the Q3 2026 10-Q), ROIC on gross invested capital falls below 20% while FCF per share is still declining. META would drop to 3/7 (43%), the compounding pathway would be invalidated, and it would revert to Disruptive Growth at a 5% cap, trimmed within 30 days (D.4).</a:t>
            </a:r>
            <a:endParaRPr lang="en-US" sz="13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lstStyle/>
          <a:p>
            <a:pPr indent="0" marL="0">
              <a:buNone/>
            </a:pPr>
            <a:r>
              <a:rPr lang="en-US" sz="2400" b="1" dirty="0">
                <a:solidFill>
                  <a:srgbClr val="1D325C"/>
                </a:solidFill>
                <a:latin typeface="Calibri" pitchFamily="34" charset="0"/>
                <a:ea typeface="Calibri" pitchFamily="34" charset="-122"/>
                <a:cs typeface="Calibri" pitchFamily="34" charset="-120"/>
              </a:rPr>
              <a:t>Appendix — Committee Q&amp;A (1)</a:t>
            </a:r>
            <a:endParaRPr lang="en-US" sz="2400" dirty="0"/>
          </a:p>
        </p:txBody>
      </p:sp>
      <p:sp>
        <p:nvSpPr>
          <p:cNvPr id="3" name="Text 1"/>
          <p:cNvSpPr/>
          <p:nvPr/>
        </p:nvSpPr>
        <p:spPr>
          <a:xfrm>
            <a:off x="457200" y="1097280"/>
            <a:ext cx="11247120" cy="5120640"/>
          </a:xfrm>
          <a:prstGeom prst="rect">
            <a:avLst/>
          </a:prstGeom>
          <a:noFill/>
          <a:ln/>
        </p:spPr>
        <p:txBody>
          <a:bodyPr wrap="square" rtlCol="0" anchor="t">
            <a:normAutofit/>
          </a:bodyPr>
          <a:lstStyle/>
          <a:p>
            <a:pPr indent="0" marL="0">
              <a:buNone/>
            </a:pPr>
            <a:r>
              <a:rPr lang="en-US" sz="1200" b="1" dirty="0">
                <a:solidFill>
                  <a:srgbClr val="1D325C"/>
                </a:solidFill>
                <a:latin typeface="Calibri" pitchFamily="34" charset="0"/>
                <a:ea typeface="Calibri" pitchFamily="34" charset="-122"/>
                <a:cs typeface="Calibri" pitchFamily="34" charset="-120"/>
              </a:rPr>
              <a:t>Q1. What does employee sentiment tell us, and should it worry us during an AI talent war?</a:t>
            </a:r>
            <a:endParaRPr lang="en-US" sz="1200" dirty="0"/>
          </a:p>
          <a:p>
            <a:pPr indent="0" marL="0">
              <a:spcAft>
                <a:spcPts val="1000"/>
              </a:spcAft>
              <a:buNone/>
            </a:pPr>
            <a:r>
              <a:rPr lang="en-US" sz="1200" dirty="0">
                <a:solidFill>
                  <a:srgbClr val="4A5468"/>
                </a:solidFill>
                <a:latin typeface="Calibri" pitchFamily="34" charset="0"/>
                <a:ea typeface="Calibri" pitchFamily="34" charset="-122"/>
                <a:cs typeface="Calibri" pitchFamily="34" charset="-120"/>
              </a:rPr>
              <a:t>Glassdoor (about 18.8K reviews) shows 3.4/5 overall, 47% would recommend, 33% CEO approval, 45% positive outlook, and work-life balance and culture at 2.7 and 2.8. The recurring theme is layoff anxiety. An August 2026 review says it is 'difficult to grow within the team and always at layoff risk', and a March 2026 Los Angeles review says 'want to be treated like a disposable worker drone? welcome to the party!' This follows about 8,000 cuts (around 10% of staff, $1.18bn severance) in May 2026. The positives are pay and work ('Top industry pay, but promotion paths are challenging', June 2026). Meta is paying to retain talent: Q2 R&amp;D rose 67% and SBC rose 58% to $7.66bn, or 19.3% of OCF. It is a weakness and a cost, not a kill signal. One caveat: Reddit threads could not be retrieved, and I will sample them before the vote.</a:t>
            </a:r>
            <a:endParaRPr lang="en-US" sz="1200" dirty="0"/>
          </a:p>
          <a:p>
            <a:pPr indent="0" marL="0">
              <a:buNone/>
            </a:pPr>
            <a:r>
              <a:rPr lang="en-US" sz="1200" b="1" dirty="0">
                <a:solidFill>
                  <a:srgbClr val="1D325C"/>
                </a:solidFill>
                <a:latin typeface="Calibri" pitchFamily="34" charset="0"/>
                <a:ea typeface="Calibri" pitchFamily="34" charset="-122"/>
                <a:cs typeface="Calibri" pitchFamily="34" charset="-120"/>
              </a:rPr>
              <a:t>Q2. What exactly would make you exit?</a:t>
            </a:r>
            <a:endParaRPr lang="en-US" sz="1200" dirty="0"/>
          </a:p>
          <a:p>
            <a:pPr indent="0" marL="0">
              <a:spcAft>
                <a:spcPts val="1000"/>
              </a:spcAft>
              <a:buNone/>
            </a:pPr>
            <a:r>
              <a:rPr lang="en-US" sz="1200" dirty="0">
                <a:solidFill>
                  <a:srgbClr val="4A5468"/>
                </a:solidFill>
                <a:latin typeface="Calibri" pitchFamily="34" charset="0"/>
                <a:ea typeface="Calibri" pitchFamily="34" charset="-122"/>
                <a:cs typeface="Calibri" pitchFamily="34" charset="-120"/>
              </a:rPr>
              <a:t>The kill signal is ROIC on gross invested capital below 20% while FCF per share is still declining at the Classification Test re-run after the Q3 10-Q. That drops META to 3/7 (43%) and forces reversion to Disruptive Growth at a 5% cap, with the trim done within 30 days under D.4. Gross ROIC is 20.0% today, so there is zero buffer. Three further triggers would prompt an exit review: failure of the 4/7 quality floor on any other threshold; a crippling legal outcome, such as a New Mexico penalty in the high tens of billions; and capex raised again without matching revenue acceleration. A sustained ROIC/ROCE fall below 20% also triggers the Section 3.4 Quality Erosion review.</a:t>
            </a:r>
            <a:endParaRPr lang="en-US" sz="1200" dirty="0"/>
          </a:p>
          <a:p>
            <a:pPr indent="0" marL="0">
              <a:buNone/>
            </a:pPr>
            <a:r>
              <a:rPr lang="en-US" sz="1200" b="1" dirty="0">
                <a:solidFill>
                  <a:srgbClr val="1D325C"/>
                </a:solidFill>
                <a:latin typeface="Calibri" pitchFamily="34" charset="0"/>
                <a:ea typeface="Calibri" pitchFamily="34" charset="-122"/>
                <a:cs typeface="Calibri" pitchFamily="34" charset="-120"/>
              </a:rPr>
              <a:t>Q3. Your own statistics show no edge. Why hold at all?</a:t>
            </a:r>
            <a:endParaRPr lang="en-US" sz="1200" dirty="0"/>
          </a:p>
          <a:p>
            <a:pPr indent="0" marL="0">
              <a:spcAft>
                <a:spcPts val="1000"/>
              </a:spcAft>
              <a:buNone/>
            </a:pPr>
            <a:r>
              <a:rPr lang="en-US" sz="1200" dirty="0">
                <a:solidFill>
                  <a:srgbClr val="4A5468"/>
                </a:solidFill>
                <a:latin typeface="Calibri" pitchFamily="34" charset="0"/>
                <a:ea typeface="Calibri" pitchFamily="34" charset="-122"/>
                <a:cs typeface="Calibri" pitchFamily="34" charset="-120"/>
              </a:rPr>
              <a:t>The tests show that capex shocks carry no price signal: T1 p = 0.608, drift p = 0.478, transmission p = 0.289 and p = 0.942. That tells us not to size up on the AI-ROI thesis. It does not tell us the business is impaired. The Hold rests on fundamentals that pass the methodology's tests: 81.7% gross margin, 27.7% TTM growth, 29.7% net ROIC, 24.0x interest coverage, and 8 straight revenue beats. We are not adding on the thesis, and that also matters for the Concentration Principle, given our 34% hit rate and an information ratio of about -0.9. Because capex carries no signal, the only valid adds are price-based (at or below about $600) or a Section 0 panic on a quantified one-off.</a:t>
            </a:r>
            <a:endParaRPr lang="en-US" sz="1200" dirty="0"/>
          </a:p>
          <a:p>
            <a:pPr indent="0" marL="0">
              <a:buNone/>
            </a:pPr>
            <a:r>
              <a:rPr lang="en-US" sz="1200" b="1" dirty="0">
                <a:solidFill>
                  <a:srgbClr val="1D325C"/>
                </a:solidFill>
                <a:latin typeface="Calibri" pitchFamily="34" charset="0"/>
                <a:ea typeface="Calibri" pitchFamily="34" charset="-122"/>
                <a:cs typeface="Calibri" pitchFamily="34" charset="-120"/>
              </a:rPr>
              <a:t>Q4. Your base DCF says $566, 21% below the price. Why Hold rather than Sell?</a:t>
            </a:r>
            <a:endParaRPr lang="en-US" sz="1200" dirty="0"/>
          </a:p>
          <a:p>
            <a:pPr indent="0" marL="0">
              <a:spcAft>
                <a:spcPts val="1000"/>
              </a:spcAft>
              <a:buNone/>
            </a:pPr>
            <a:r>
              <a:rPr lang="en-US" sz="1200" dirty="0">
                <a:solidFill>
                  <a:srgbClr val="4A5468"/>
                </a:solidFill>
                <a:latin typeface="Calibri" pitchFamily="34" charset="0"/>
                <a:ea typeface="Calibri" pitchFamily="34" charset="-122"/>
                <a:cs typeface="Calibri" pitchFamily="34" charset="-120"/>
              </a:rPr>
              <a:t>The base case is very sensitive to the discount rate, which reflects a 5.28% risk-free rate. At 9.3% WACC the same cash flows give $687, and at 8.3% they give $854; the reverse DCF puts today's price at about a 9.1% discount rate. None of the Section 3.4 sell triggers has fired. There is no dividend sin, ROIC has not fallen below 20%, the thesis has not failed, and the classification still passes. Selling a 4/7 franchise growing 28% on a valuation gap inside the sensitivity range would be valuation anchoring. The disciplined response is to stop adding at $721, keep the cap and the kill signal live, and buy below $600.</a:t>
            </a:r>
            <a:endParaRPr lang="en-US" sz="12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320040"/>
            <a:ext cx="11247120" cy="731520"/>
          </a:xfrm>
          <a:prstGeom prst="rect">
            <a:avLst/>
          </a:prstGeom>
          <a:noFill/>
          <a:ln/>
        </p:spPr>
        <p:txBody>
          <a:bodyPr wrap="square" rtlCol="0" anchor="ctr"/>
          <a:lstStyle/>
          <a:p>
            <a:pPr indent="0" marL="0">
              <a:buNone/>
            </a:pPr>
            <a:r>
              <a:rPr lang="en-US" sz="2400" b="1" dirty="0">
                <a:solidFill>
                  <a:srgbClr val="1D325C"/>
                </a:solidFill>
                <a:latin typeface="Calibri" pitchFamily="34" charset="0"/>
                <a:ea typeface="Calibri" pitchFamily="34" charset="-122"/>
                <a:cs typeface="Calibri" pitchFamily="34" charset="-120"/>
              </a:rPr>
              <a:t>Appendix — Committee Q&amp;A (2)</a:t>
            </a:r>
            <a:endParaRPr lang="en-US" sz="2400" dirty="0"/>
          </a:p>
        </p:txBody>
      </p:sp>
      <p:sp>
        <p:nvSpPr>
          <p:cNvPr id="3" name="Text 1"/>
          <p:cNvSpPr/>
          <p:nvPr/>
        </p:nvSpPr>
        <p:spPr>
          <a:xfrm>
            <a:off x="457200" y="1097280"/>
            <a:ext cx="11247120" cy="5120640"/>
          </a:xfrm>
          <a:prstGeom prst="rect">
            <a:avLst/>
          </a:prstGeom>
          <a:noFill/>
          <a:ln/>
        </p:spPr>
        <p:txBody>
          <a:bodyPr wrap="square" rtlCol="0" anchor="t">
            <a:normAutofit/>
          </a:bodyPr>
          <a:lstStyle/>
          <a:p>
            <a:pPr indent="0" marL="0">
              <a:buNone/>
            </a:pPr>
            <a:r>
              <a:rPr lang="en-US" sz="1200" b="1" dirty="0">
                <a:solidFill>
                  <a:srgbClr val="1D325C"/>
                </a:solidFill>
                <a:latin typeface="Calibri" pitchFamily="34" charset="0"/>
                <a:ea typeface="Calibri" pitchFamily="34" charset="-122"/>
                <a:cs typeface="Calibri" pitchFamily="34" charset="-120"/>
              </a:rPr>
              <a:t>Q5. Isn't the Transitional label a convenient way to avoid the 10% Compounding Machine cap or the Disruptive 5% cap?</a:t>
            </a:r>
            <a:endParaRPr lang="en-US" sz="1200" dirty="0"/>
          </a:p>
          <a:p>
            <a:pPr indent="0" marL="0">
              <a:spcAft>
                <a:spcPts val="1000"/>
              </a:spcAft>
              <a:buNone/>
            </a:pPr>
            <a:r>
              <a:rPr lang="en-US" sz="1200" dirty="0">
                <a:solidFill>
                  <a:srgbClr val="4A5468"/>
                </a:solidFill>
                <a:latin typeface="Calibri" pitchFamily="34" charset="0"/>
                <a:ea typeface="Calibri" pitchFamily="34" charset="-122"/>
                <a:cs typeface="Calibri" pitchFamily="34" charset="-120"/>
              </a:rPr>
              <a:t>No. META scores 4/7, so it cannot be a Compounding Machine (5/7 needed) regardless of label. It qualifies for the disruption engine through D.1(a)(i) on reported TTM growth of 27.7%, not on narrative. I disclose that D.1(a)(ii) fails, since FoA Other (+73%) is only 1.7% of revenue, against the 15% required. No external-factor adjustment was used to flip a threshold. Even excluding the $2.40bn legal charge and $1.18bn severance, Q2 EBIT grew 9% against 28% revenue growth. META was already in the v3 register before this review, so this is not a cap escape under D.5. If the floor slips, it goes to 5%.</a:t>
            </a:r>
            <a:endParaRPr lang="en-US" sz="1200" dirty="0"/>
          </a:p>
          <a:p>
            <a:pPr indent="0" marL="0">
              <a:buNone/>
            </a:pPr>
            <a:r>
              <a:rPr lang="en-US" sz="1200" b="1" dirty="0">
                <a:solidFill>
                  <a:srgbClr val="1D325C"/>
                </a:solidFill>
                <a:latin typeface="Calibri" pitchFamily="34" charset="0"/>
                <a:ea typeface="Calibri" pitchFamily="34" charset="-122"/>
                <a:cs typeface="Calibri" pitchFamily="34" charset="-120"/>
              </a:rPr>
              <a:t>Q6. How bad can the legal stack get relative to the balance sheet?</a:t>
            </a:r>
            <a:endParaRPr lang="en-US" sz="1200" dirty="0"/>
          </a:p>
          <a:p>
            <a:pPr indent="0" marL="0">
              <a:spcAft>
                <a:spcPts val="1000"/>
              </a:spcAft>
              <a:buNone/>
            </a:pPr>
            <a:r>
              <a:rPr lang="en-US" sz="1200" dirty="0">
                <a:solidFill>
                  <a:srgbClr val="4A5468"/>
                </a:solidFill>
                <a:latin typeface="Calibri" pitchFamily="34" charset="0"/>
                <a:ea typeface="Calibri" pitchFamily="34" charset="-122"/>
                <a:cs typeface="Calibri" pitchFamily="34" charset="-120"/>
              </a:rPr>
              <a:t>The $18bn AG settlement brings about a $10bn Q3 accrual that is not in expense guidance. New Mexico seeks $35-40bn against Meta's proposed $3.45bn cap. The FTC appeal and the February 2027 school-district MDL are pending. Against that, Meta holds $90.26bn of cash and securities vs $83.66bn of long-term debt, is rated Aa3/AA-, and generated TTM OCF of $130.3bn. A $40bn penalty is about 2.2% of the $1.84T market cap and survivable, but it lands while consensus net debt is already rising to $80.6bn by YE28. A high-tens-of-billions outcome triggers an exit review. Under v3 these are regulatory costs with no expiry date, so they are not adjusted away. Teen time limits (2h/day) are a structural impressions headwind.</a:t>
            </a:r>
            <a:endParaRPr lang="en-US" sz="1200" dirty="0"/>
          </a:p>
          <a:p>
            <a:pPr indent="0" marL="0">
              <a:buNone/>
            </a:pPr>
            <a:r>
              <a:rPr lang="en-US" sz="1200" b="1" dirty="0">
                <a:solidFill>
                  <a:srgbClr val="1D325C"/>
                </a:solidFill>
                <a:latin typeface="Calibri" pitchFamily="34" charset="0"/>
                <a:ea typeface="Calibri" pitchFamily="34" charset="-122"/>
                <a:cs typeface="Calibri" pitchFamily="34" charset="-120"/>
              </a:rPr>
              <a:t>Q7. How is the capex being funded, and are shareholders being diluted?</a:t>
            </a:r>
            <a:endParaRPr lang="en-US" sz="1200" dirty="0"/>
          </a:p>
          <a:p>
            <a:pPr indent="0" marL="0">
              <a:spcAft>
                <a:spcPts val="1000"/>
              </a:spcAft>
              <a:buNone/>
            </a:pPr>
            <a:r>
              <a:rPr lang="en-US" sz="1200" dirty="0">
                <a:solidFill>
                  <a:srgbClr val="4A5468"/>
                </a:solidFill>
                <a:latin typeface="Calibri" pitchFamily="34" charset="0"/>
                <a:ea typeface="Calibri" pitchFamily="34" charset="-122"/>
                <a:cs typeface="Calibri" pitchFamily="34" charset="-120"/>
              </a:rPr>
              <a:t>Buybacks went from $22.9bn in H1'25 to $0 in H1'26, with $25.03bn of authorisation unused. Meta issued about $55bn of debt between Q4'25 and Q2'26, including $25bn of notes in May at coupons of 4.55-6.30%, and interest expense rose 225% YoY. The FT reported an equity sale under consideration. Basic shares are up 1.0% YoY and SBC is 19.3% of OCF, while off-balance-sheet exposure includes $349.3bn of non-cancelable commitments and a $46.0bn Hyperion VIE maximum loss. That is the D.6 C2 asset-growth pattern. It is why incremental ROIC of about 11%, not headline ROIC, is the metric I watch.</a:t>
            </a:r>
            <a:endParaRPr lang="en-US" sz="1200" dirty="0"/>
          </a:p>
          <a:p>
            <a:pPr indent="0" marL="0">
              <a:buNone/>
            </a:pPr>
            <a:r>
              <a:rPr lang="en-US" sz="1200" b="1" dirty="0">
                <a:solidFill>
                  <a:srgbClr val="1D325C"/>
                </a:solidFill>
                <a:latin typeface="Calibri" pitchFamily="34" charset="0"/>
                <a:ea typeface="Calibri" pitchFamily="34" charset="-122"/>
                <a:cs typeface="Calibri" pitchFamily="34" charset="-120"/>
              </a:rPr>
              <a:t>Q8. Muse hit #1 on the App Store. Isn't that the unpriced upside?</a:t>
            </a:r>
            <a:endParaRPr lang="en-US" sz="1200" dirty="0"/>
          </a:p>
          <a:p>
            <a:pPr indent="0" marL="0">
              <a:spcAft>
                <a:spcPts val="1000"/>
              </a:spcAft>
              <a:buNone/>
            </a:pPr>
            <a:r>
              <a:rPr lang="en-US" sz="1200" dirty="0">
                <a:solidFill>
                  <a:srgbClr val="4A5468"/>
                </a:solidFill>
                <a:latin typeface="Calibri" pitchFamily="34" charset="0"/>
                <a:ea typeface="Calibri" pitchFamily="34" charset="-122"/>
                <a:cs typeface="Calibri" pitchFamily="34" charset="-120"/>
              </a:rPr>
              <a:t>It is upside, but it is unproven and already in the multiple. Muse has 4.9/5 from 173K ratings and more than 5m US downloads in 22 days. Sensor Tower, however, estimated only about 700,000 daily users by late September, with open rates trailing ChatGPT and Instagram. Trust is an obstacle: AppleInsider wrote 'Don't use it', a security flaw and unprompted message-reading were reported, and Amazon blocked Muse on 20 September. Meta has disclosed no Muse revenue, yet the stock rose about 27% in September and the forward P/E went from about 17x to 23.2x. I will credit Muse when paid subscribers or API and compute revenue appear in filings.</a:t>
            </a:r>
            <a:endParaRPr lang="en-US" sz="1200" dirty="0"/>
          </a:p>
        </p:txBody>
      </p:sp>
      <p:sp>
        <p:nvSpPr>
          <p:cNvPr id="25" name="Slide Number Placeholder 0"/>
          <p:cNvSpPr>
            <a:spLocks noGrp="1"/>
          </p:cNvSpPr>
          <p:nvPr>
            <p:ph type="sldNum" sz="quarter" idx="4294967295"/>
          </p:nvPr>
        </p:nvSpPr>
        <p:spPr>
          <a:xfrm>
            <a:off x="11247120" y="640080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93A6"/>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HCMP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Meta Platforms, Inc. (META) (META) — Investment Committee Pitch</dc:title>
  <dc:subject>PptxGenJS Presentation</dc:subject>
  <dc:creator>Hamza Bassatne + Claude</dc:creator>
  <cp:lastModifiedBy>Hamza Bassatne + Claude</cp:lastModifiedBy>
  <cp:revision>1</cp:revision>
  <dcterms:created xsi:type="dcterms:W3CDTF">2026-10-08T10:37:39Z</dcterms:created>
  <dcterms:modified xsi:type="dcterms:W3CDTF">2026-10-08T10:37:39Z</dcterms:modified>
</cp:coreProperties>
</file>